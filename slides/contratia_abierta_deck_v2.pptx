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7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6400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4200" b="1" i="0">
                <a:solidFill>
                  <a:srgbClr val="263241"/>
                </a:solidFill>
                <a:latin typeface="Calibri"/>
              </a:defRPr>
            </a:pPr>
            <a:r>
              <a:t>Transparencia360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6400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 i="0">
                <a:solidFill>
                  <a:srgbClr val="263241"/>
                </a:solidFill>
                <a:latin typeface="Calibri"/>
              </a:defRPr>
            </a:pPr>
            <a:r>
              <a:t>ContratIA Abierta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0"/>
            <a:ext cx="6400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275DA8"/>
                </a:solidFill>
                <a:latin typeface="Calibri"/>
              </a:defRPr>
            </a:pPr>
            <a:r>
              <a:t>Ordenar miles de procesos SECOP para decidir qué revisar primero.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200400"/>
            <a:ext cx="4572000" cy="12700"/>
          </a:xfrm>
          <a:prstGeom prst="rect">
            <a:avLst/>
          </a:prstGeom>
          <a:solidFill>
            <a:srgbClr val="D9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38328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667085"/>
                </a:solidFill>
                <a:latin typeface="Calibri"/>
              </a:defRPr>
            </a:pPr>
            <a:r>
              <a:t>Ingeniería de Datos, Universidad del Rosario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931920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>
              <a:defRPr sz="900" b="1">
                <a:solidFill>
                  <a:srgbClr val="275DA8"/>
                </a:solidFill>
                <a:latin typeface="Calibri"/>
              </a:defRPr>
            </a:pPr>
            <a:r>
              <a:t>Revisión humana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23160" y="3931920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>
              <a:defRPr sz="900" b="1">
                <a:solidFill>
                  <a:srgbClr val="275DA8"/>
                </a:solidFill>
                <a:latin typeface="Calibri"/>
              </a:defRPr>
            </a:pPr>
            <a:r>
              <a:t>Datos abiertos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393192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>
              <a:defRPr sz="900" b="1">
                <a:solidFill>
                  <a:srgbClr val="275DA8"/>
                </a:solidFill>
                <a:latin typeface="Calibri"/>
              </a:defRPr>
            </a:pPr>
            <a:r>
              <a:t>Trazabilidad</a:t>
            </a:r>
          </a:p>
        </p:txBody>
      </p:sp>
      <p:pic>
        <p:nvPicPr>
          <p:cNvPr id="11" name="Picture 10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3840480" cy="216027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460175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085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7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63241"/>
                </a:solidFill>
                <a:latin typeface="Calibri"/>
              </a:defRPr>
            </a:pPr>
            <a:r>
              <a:t>Problema: volumen sin atención suficiente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263241"/>
                </a:solidFill>
                <a:latin typeface="Calibri"/>
              </a:defRPr>
            </a:pPr>
            <a:r>
              <a:t>No faltan datos de contratación. Falta capacidad humana para revisarlos con prioridad, evidencia y trazabilidad.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3108960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spcAft>
                <a:spcPts val="400"/>
              </a:spcAft>
              <a:defRPr sz="1300" b="1">
                <a:solidFill>
                  <a:srgbClr val="275DA8"/>
                </a:solidFill>
                <a:latin typeface="Calibri"/>
              </a:defRPr>
            </a:pPr>
            <a:r>
              <a:t>Miles de procesos</a:t>
            </a:r>
          </a:p>
          <a:p>
            <a:pPr>
              <a:spcBef>
                <a:spcPts val="200"/>
              </a:spcBef>
              <a:defRPr sz="1100">
                <a:solidFill>
                  <a:srgbClr val="667085"/>
                </a:solidFill>
                <a:latin typeface="Calibri"/>
              </a:defRPr>
            </a:pPr>
            <a:r>
              <a:t>SECOP, PAA, contexto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886200" y="3566160"/>
            <a:ext cx="365760" cy="228600"/>
          </a:xfrm>
          <a:prstGeom prst="rightArrow">
            <a:avLst/>
          </a:prstGeom>
          <a:solidFill>
            <a:srgbClr val="27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663440" y="2560320"/>
            <a:ext cx="3108960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spcAft>
                <a:spcPts val="400"/>
              </a:spcAft>
              <a:defRPr sz="1300" b="1">
                <a:solidFill>
                  <a:srgbClr val="275DA8"/>
                </a:solidFill>
                <a:latin typeface="Calibri"/>
              </a:defRPr>
            </a:pPr>
            <a:r>
              <a:t>Ranking explicable</a:t>
            </a:r>
          </a:p>
          <a:p>
            <a:pPr>
              <a:spcBef>
                <a:spcPts val="200"/>
              </a:spcBef>
              <a:defRPr sz="1100">
                <a:solidFill>
                  <a:srgbClr val="667085"/>
                </a:solidFill>
                <a:latin typeface="Calibri"/>
              </a:defRPr>
            </a:pPr>
            <a:r>
              <a:t>Score, confianza, razones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818120" y="3566160"/>
            <a:ext cx="365760" cy="228600"/>
          </a:xfrm>
          <a:prstGeom prst="rightArrow">
            <a:avLst/>
          </a:prstGeom>
          <a:solidFill>
            <a:srgbClr val="27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595360" y="2560320"/>
            <a:ext cx="3108960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spcAft>
                <a:spcPts val="400"/>
              </a:spcAft>
              <a:defRPr sz="1300" b="1">
                <a:solidFill>
                  <a:srgbClr val="275DA8"/>
                </a:solidFill>
                <a:latin typeface="Calibri"/>
              </a:defRPr>
            </a:pPr>
            <a:r>
              <a:t>Revisión humana</a:t>
            </a:r>
          </a:p>
          <a:p>
            <a:pPr>
              <a:spcBef>
                <a:spcPts val="200"/>
              </a:spcBef>
              <a:defRPr sz="1100">
                <a:solidFill>
                  <a:srgbClr val="667085"/>
                </a:solidFill>
                <a:latin typeface="Calibri"/>
              </a:defRPr>
            </a:pPr>
            <a:r>
              <a:t>Decisión documentada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667085"/>
                </a:solidFill>
                <a:latin typeface="Calibri"/>
              </a:defRPr>
            </a:pPr>
            <a:r>
              <a:t>Priorización de revisión humana; no prueba conductas indebidas.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60175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085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7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63241"/>
                </a:solidFill>
                <a:latin typeface="Calibri"/>
              </a:defRPr>
            </a:pPr>
            <a:r>
              <a:t>Stakeholder y decisión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2194560"/>
          </a:xfrm>
          <a:prstGeom prst="roundRect">
            <a:avLst>
              <a:gd name="adj" fmla="val 4000"/>
            </a:avLst>
          </a:prstGeom>
          <a:solidFill>
            <a:srgbClr val="EAF1FB"/>
          </a:solidFill>
          <a:ln w="12700">
            <a:solidFill>
              <a:srgbClr val="D9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spcAft>
                <a:spcPts val="400"/>
              </a:spcAft>
              <a:defRPr sz="1300" b="1">
                <a:solidFill>
                  <a:srgbClr val="275DA8"/>
                </a:solidFill>
                <a:latin typeface="Calibri"/>
              </a:defRPr>
            </a:pPr>
            <a:r>
              <a:t>Veeduría ciudadana</a:t>
            </a:r>
          </a:p>
          <a:p>
            <a:pPr>
              <a:spcBef>
                <a:spcPts val="200"/>
              </a:spcBef>
              <a:defRPr sz="1100">
                <a:solidFill>
                  <a:srgbClr val="667085"/>
                </a:solidFill>
                <a:latin typeface="Calibri"/>
              </a:defRPr>
            </a:pPr>
            <a:r>
              <a:t>Monitorea contratos públicos y exige transparencia.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1645920"/>
            <a:ext cx="3291840" cy="2194560"/>
          </a:xfrm>
          <a:prstGeom prst="roundRect">
            <a:avLst>
              <a:gd name="adj" fmla="val 4000"/>
            </a:avLst>
          </a:prstGeom>
          <a:solidFill>
            <a:srgbClr val="EAF1FB"/>
          </a:solidFill>
          <a:ln w="12700">
            <a:solidFill>
              <a:srgbClr val="D9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spcAft>
                <a:spcPts val="400"/>
              </a:spcAft>
              <a:defRPr sz="1300" b="1">
                <a:solidFill>
                  <a:srgbClr val="275DA8"/>
                </a:solidFill>
                <a:latin typeface="Calibri"/>
              </a:defRPr>
            </a:pPr>
            <a:r>
              <a:t>Control interno</a:t>
            </a:r>
          </a:p>
          <a:p>
            <a:pPr>
              <a:spcBef>
                <a:spcPts val="200"/>
              </a:spcBef>
              <a:defRPr sz="1100">
                <a:solidFill>
                  <a:srgbClr val="667085"/>
                </a:solidFill>
                <a:latin typeface="Calibri"/>
              </a:defRPr>
            </a:pPr>
            <a:r>
              <a:t>Audita procesos y prioriza revisiones internas.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645920"/>
            <a:ext cx="3291840" cy="2194560"/>
          </a:xfrm>
          <a:prstGeom prst="roundRect">
            <a:avLst>
              <a:gd name="adj" fmla="val 4000"/>
            </a:avLst>
          </a:prstGeom>
          <a:solidFill>
            <a:srgbClr val="EAF1FB"/>
          </a:solidFill>
          <a:ln w="12700">
            <a:solidFill>
              <a:srgbClr val="D9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spcAft>
                <a:spcPts val="400"/>
              </a:spcAft>
              <a:defRPr sz="1300" b="1">
                <a:solidFill>
                  <a:srgbClr val="275DA8"/>
                </a:solidFill>
                <a:latin typeface="Calibri"/>
              </a:defRPr>
            </a:pPr>
            <a:r>
              <a:t>Periodista de datos</a:t>
            </a:r>
          </a:p>
          <a:p>
            <a:pPr>
              <a:spcBef>
                <a:spcPts val="200"/>
              </a:spcBef>
              <a:defRPr sz="1100">
                <a:solidFill>
                  <a:srgbClr val="667085"/>
                </a:solidFill>
                <a:latin typeface="Calibri"/>
              </a:defRPr>
            </a:pPr>
            <a:r>
              <a:t>Investiga patrones y publica hallazgos.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572000"/>
            <a:ext cx="10972800" cy="12700"/>
          </a:xfrm>
          <a:prstGeom prst="rect">
            <a:avLst/>
          </a:prstGeom>
          <a:solidFill>
            <a:srgbClr val="D9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84632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275DA8"/>
                </a:solidFill>
                <a:latin typeface="Calibri"/>
              </a:defRPr>
            </a:pPr>
            <a:r>
              <a:t>Decisión semanal: qué procesos revisar primero, con qué razones y con qué confianza.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667085"/>
                </a:solidFill>
                <a:latin typeface="Calibri"/>
              </a:defRPr>
            </a:pPr>
            <a:r>
              <a:t>Priorización de revisión humana; no prueba conductas indebidas.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60175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085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7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63241"/>
                </a:solidFill>
                <a:latin typeface="Calibri"/>
              </a:defRPr>
            </a:pPr>
            <a:r>
              <a:t>Requisitos de Ingeniería de Datos cubiertos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2468880" cy="1645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spcAft>
                <a:spcPts val="400"/>
              </a:spcAft>
              <a:defRPr sz="1200" b="1">
                <a:solidFill>
                  <a:srgbClr val="275DA8"/>
                </a:solidFill>
                <a:latin typeface="Calibri"/>
              </a:defRPr>
            </a:pPr>
            <a:r>
              <a:t>PostgreSQL</a:t>
            </a:r>
          </a:p>
          <a:p>
            <a:pPr>
              <a:spcBef>
                <a:spcPts val="200"/>
              </a:spcBef>
              <a:defRPr sz="1000">
                <a:solidFill>
                  <a:srgbClr val="667085"/>
                </a:solidFill>
                <a:latin typeface="Calibri"/>
              </a:defRPr>
            </a:pPr>
            <a:r>
              <a:t>27 tablas, 33 objetos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1554480"/>
            <a:ext cx="2468880" cy="1645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spcAft>
                <a:spcPts val="400"/>
              </a:spcAft>
              <a:defRPr sz="1200" b="1">
                <a:solidFill>
                  <a:srgbClr val="275DA8"/>
                </a:solidFill>
                <a:latin typeface="Calibri"/>
              </a:defRPr>
            </a:pPr>
            <a:r>
              <a:t>MongoDB</a:t>
            </a:r>
          </a:p>
          <a:p>
            <a:pPr>
              <a:spcBef>
                <a:spcPts val="200"/>
              </a:spcBef>
              <a:defRPr sz="1000">
                <a:solidFill>
                  <a:srgbClr val="667085"/>
                </a:solidFill>
                <a:latin typeface="Calibri"/>
              </a:defRPr>
            </a:pPr>
            <a:r>
              <a:t>5 colecciones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554480"/>
            <a:ext cx="2468880" cy="1645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spcAft>
                <a:spcPts val="400"/>
              </a:spcAft>
              <a:defRPr sz="1200" b="1">
                <a:solidFill>
                  <a:srgbClr val="275DA8"/>
                </a:solidFill>
                <a:latin typeface="Calibri"/>
              </a:defRPr>
            </a:pPr>
            <a:r>
              <a:t>FastAPI</a:t>
            </a:r>
          </a:p>
          <a:p>
            <a:pPr>
              <a:spcBef>
                <a:spcPts val="200"/>
              </a:spcBef>
              <a:defRPr sz="1000">
                <a:solidFill>
                  <a:srgbClr val="667085"/>
                </a:solidFill>
                <a:latin typeface="Calibri"/>
              </a:defRPr>
            </a:pPr>
            <a:r>
              <a:t>3 servicios, health 200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15400" y="1554480"/>
            <a:ext cx="2468880" cy="1645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spcAft>
                <a:spcPts val="400"/>
              </a:spcAft>
              <a:defRPr sz="1200" b="1">
                <a:solidFill>
                  <a:srgbClr val="275DA8"/>
                </a:solidFill>
                <a:latin typeface="Calibri"/>
              </a:defRPr>
            </a:pPr>
            <a:r>
              <a:t>Dash</a:t>
            </a:r>
          </a:p>
          <a:p>
            <a:pPr>
              <a:spcBef>
                <a:spcPts val="200"/>
              </a:spcBef>
              <a:defRPr sz="1000">
                <a:solidFill>
                  <a:srgbClr val="667085"/>
                </a:solidFill>
                <a:latin typeface="Calibri"/>
              </a:defRPr>
            </a:pPr>
            <a:r>
              <a:t>Interfaz oficial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520440"/>
            <a:ext cx="2468880" cy="1645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spcAft>
                <a:spcPts val="400"/>
              </a:spcAft>
              <a:defRPr sz="1200" b="1">
                <a:solidFill>
                  <a:srgbClr val="275DA8"/>
                </a:solidFill>
                <a:latin typeface="Calibri"/>
              </a:defRPr>
            </a:pPr>
            <a:r>
              <a:t>ETL</a:t>
            </a:r>
          </a:p>
          <a:p>
            <a:pPr>
              <a:spcBef>
                <a:spcPts val="200"/>
              </a:spcBef>
              <a:defRPr sz="1000">
                <a:solidFill>
                  <a:srgbClr val="667085"/>
                </a:solidFill>
                <a:latin typeface="Calibri"/>
              </a:defRPr>
            </a:pPr>
            <a:r>
              <a:t>17.229 procesos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3520440"/>
            <a:ext cx="2468880" cy="1645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spcAft>
                <a:spcPts val="400"/>
              </a:spcAft>
              <a:defRPr sz="1200" b="1">
                <a:solidFill>
                  <a:srgbClr val="275DA8"/>
                </a:solidFill>
                <a:latin typeface="Calibri"/>
              </a:defRPr>
            </a:pPr>
            <a:r>
              <a:t>SQL avanzado</a:t>
            </a:r>
          </a:p>
          <a:p>
            <a:pPr>
              <a:spcBef>
                <a:spcPts val="200"/>
              </a:spcBef>
              <a:defRPr sz="1000">
                <a:solidFill>
                  <a:srgbClr val="667085"/>
                </a:solidFill>
                <a:latin typeface="Calibri"/>
              </a:defRPr>
            </a:pPr>
            <a:r>
              <a:t>Triggers, CTE, windows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520440"/>
            <a:ext cx="2468880" cy="1645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spcAft>
                <a:spcPts val="400"/>
              </a:spcAft>
              <a:defRPr sz="1200" b="1">
                <a:solidFill>
                  <a:srgbClr val="275DA8"/>
                </a:solidFill>
                <a:latin typeface="Calibri"/>
              </a:defRPr>
            </a:pPr>
            <a:r>
              <a:t>Pruebas</a:t>
            </a:r>
          </a:p>
          <a:p>
            <a:pPr>
              <a:spcBef>
                <a:spcPts val="200"/>
              </a:spcBef>
              <a:defRPr sz="1000">
                <a:solidFill>
                  <a:srgbClr val="667085"/>
                </a:solidFill>
                <a:latin typeface="Calibri"/>
              </a:defRPr>
            </a:pPr>
            <a:r>
              <a:t>66 pytest pasan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15400" y="3520440"/>
            <a:ext cx="2468880" cy="1645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spcAft>
                <a:spcPts val="400"/>
              </a:spcAft>
              <a:defRPr sz="1200" b="1">
                <a:solidFill>
                  <a:srgbClr val="275DA8"/>
                </a:solidFill>
                <a:latin typeface="Calibri"/>
              </a:defRPr>
            </a:pPr>
            <a:r>
              <a:t>Documentación</a:t>
            </a:r>
          </a:p>
          <a:p>
            <a:pPr>
              <a:spcBef>
                <a:spcPts val="200"/>
              </a:spcBef>
              <a:defRPr sz="1000">
                <a:solidFill>
                  <a:srgbClr val="667085"/>
                </a:solidFill>
                <a:latin typeface="Calibri"/>
              </a:defRPr>
            </a:pPr>
            <a:r>
              <a:t>21 archivos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667085"/>
                </a:solidFill>
                <a:latin typeface="Calibri"/>
              </a:defRPr>
            </a:pPr>
            <a:r>
              <a:t>Priorización de revisión humana; no prueba conductas indebidas.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60175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085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7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63241"/>
                </a:solidFill>
                <a:latin typeface="Calibri"/>
              </a:defRPr>
            </a:pPr>
            <a:r>
              <a:t>Datos oficiales y volumen de demo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5943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900"/>
                <a:gridCol w="1485900"/>
                <a:gridCol w="1485900"/>
                <a:gridCol w="1485900"/>
              </a:tblGrid>
              <a:tr h="585216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Dataset</a:t>
                      </a:r>
                    </a:p>
                  </a:txBody>
                  <a:tcPr>
                    <a:solidFill>
                      <a:srgbClr val="275D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Fuente</a:t>
                      </a:r>
                    </a:p>
                  </a:txBody>
                  <a:tcPr>
                    <a:solidFill>
                      <a:srgbClr val="275D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Procesos</a:t>
                      </a:r>
                    </a:p>
                  </a:txBody>
                  <a:tcPr>
                    <a:solidFill>
                      <a:srgbClr val="275D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Uso</a:t>
                      </a:r>
                    </a:p>
                  </a:txBody>
                  <a:tcPr>
                    <a:solidFill>
                      <a:srgbClr val="275DA8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63241"/>
                          </a:solidFill>
                          <a:latin typeface="Calibri"/>
                        </a:defRPr>
                      </a:pPr>
                      <a:r>
                        <a:t>p6dx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63241"/>
                          </a:solidFill>
                          <a:latin typeface="Calibri"/>
                        </a:defRPr>
                      </a:pPr>
                      <a:r>
                        <a:t>SECOP II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63241"/>
                          </a:solidFill>
                          <a:latin typeface="Calibri"/>
                        </a:defRPr>
                      </a:pPr>
                      <a:r>
                        <a:t>12.406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63241"/>
                          </a:solidFill>
                          <a:latin typeface="Calibri"/>
                        </a:defRPr>
                      </a:pPr>
                      <a:r>
                        <a:t>Contratos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63241"/>
                          </a:solidFill>
                          <a:latin typeface="Calibri"/>
                        </a:defRPr>
                      </a:pPr>
                      <a:r>
                        <a:t>rpmr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63241"/>
                          </a:solidFill>
                          <a:latin typeface="Calibri"/>
                        </a:defRPr>
                      </a:pPr>
                      <a:r>
                        <a:t>SECOP Integrado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63241"/>
                          </a:solidFill>
                          <a:latin typeface="Calibri"/>
                        </a:defRPr>
                      </a:pPr>
                      <a:r>
                        <a:t>4.823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63241"/>
                          </a:solidFill>
                          <a:latin typeface="Calibri"/>
                        </a:defRPr>
                      </a:pPr>
                      <a:r>
                        <a:t>Histórico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63241"/>
                          </a:solidFill>
                          <a:latin typeface="Calibri"/>
                        </a:defRPr>
                      </a:pPr>
                      <a:r>
                        <a:t>9sue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63241"/>
                          </a:solidFill>
                          <a:latin typeface="Calibri"/>
                        </a:defRPr>
                      </a:pPr>
                      <a:r>
                        <a:t>PAA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63241"/>
                          </a:solidFill>
                          <a:latin typeface="Calibri"/>
                        </a:defRPr>
                      </a:pPr>
                      <a:r>
                        <a:t>4.494 items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63241"/>
                          </a:solidFill>
                          <a:latin typeface="Calibri"/>
                        </a:defRPr>
                      </a:pPr>
                      <a:r>
                        <a:t>Planeación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63241"/>
                          </a:solidFill>
                          <a:latin typeface="Calibri"/>
                        </a:defRPr>
                      </a:pPr>
                      <a:r>
                        <a:t>wasc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63241"/>
                          </a:solidFill>
                          <a:latin typeface="Calibri"/>
                        </a:defRPr>
                      </a:pPr>
                      <a:r>
                        <a:t>Control fiscal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63241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63241"/>
                          </a:solidFill>
                          <a:latin typeface="Calibri"/>
                        </a:defRPr>
                      </a:pPr>
                      <a:r>
                        <a:t>Auditoría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132320" y="1463040"/>
            <a:ext cx="2194560" cy="1188720"/>
          </a:xfrm>
          <a:prstGeom prst="roundRect">
            <a:avLst>
              <a:gd name="adj" fmla="val 6000"/>
            </a:avLst>
          </a:prstGeom>
          <a:solidFill>
            <a:srgbClr val="EA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/>
          <a:lstStyle/>
          <a:p>
            <a:pPr algn="ctr">
              <a:defRPr sz="2000" b="1">
                <a:solidFill>
                  <a:srgbClr val="275DA8"/>
                </a:solidFill>
                <a:latin typeface="Calibri"/>
              </a:defRPr>
            </a:pPr>
            <a:r>
              <a:t>17.229</a:t>
            </a:r>
          </a:p>
          <a:p>
            <a:pPr algn="ctr">
              <a:spcBef>
                <a:spcPts val="200"/>
              </a:spcBef>
              <a:defRPr sz="900">
                <a:solidFill>
                  <a:srgbClr val="667085"/>
                </a:solidFill>
                <a:latin typeface="Calibri"/>
              </a:defRPr>
            </a:pPr>
            <a:r>
              <a:t>Procesos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555480" y="1463040"/>
            <a:ext cx="2194560" cy="1188720"/>
          </a:xfrm>
          <a:prstGeom prst="roundRect">
            <a:avLst>
              <a:gd name="adj" fmla="val 6000"/>
            </a:avLst>
          </a:prstGeom>
          <a:solidFill>
            <a:srgbClr val="EA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/>
          <a:lstStyle/>
          <a:p>
            <a:pPr algn="ctr">
              <a:defRPr sz="2000" b="1">
                <a:solidFill>
                  <a:srgbClr val="275DA8"/>
                </a:solidFill>
                <a:latin typeface="Calibri"/>
              </a:defRPr>
            </a:pPr>
            <a:r>
              <a:t>68.916</a:t>
            </a:r>
          </a:p>
          <a:p>
            <a:pPr algn="ctr">
              <a:spcBef>
                <a:spcPts val="200"/>
              </a:spcBef>
              <a:defRPr sz="900">
                <a:solidFill>
                  <a:srgbClr val="667085"/>
                </a:solidFill>
                <a:latin typeface="Calibri"/>
              </a:defRPr>
            </a:pPr>
            <a:r>
              <a:t>Razones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2880360"/>
            <a:ext cx="2194560" cy="1188720"/>
          </a:xfrm>
          <a:prstGeom prst="roundRect">
            <a:avLst>
              <a:gd name="adj" fmla="val 6000"/>
            </a:avLst>
          </a:prstGeom>
          <a:solidFill>
            <a:srgbClr val="EA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/>
          <a:lstStyle/>
          <a:p>
            <a:pPr algn="ctr">
              <a:defRPr sz="2000" b="1">
                <a:solidFill>
                  <a:srgbClr val="275DA8"/>
                </a:solidFill>
                <a:latin typeface="Calibri"/>
              </a:defRPr>
            </a:pPr>
            <a:r>
              <a:t>4.494</a:t>
            </a:r>
          </a:p>
          <a:p>
            <a:pPr algn="ctr">
              <a:spcBef>
                <a:spcPts val="200"/>
              </a:spcBef>
              <a:defRPr sz="900">
                <a:solidFill>
                  <a:srgbClr val="667085"/>
                </a:solidFill>
                <a:latin typeface="Calibri"/>
              </a:defRPr>
            </a:pPr>
            <a:r>
              <a:t>PAA items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55480" y="2880360"/>
            <a:ext cx="2194560" cy="1188720"/>
          </a:xfrm>
          <a:prstGeom prst="roundRect">
            <a:avLst>
              <a:gd name="adj" fmla="val 6000"/>
            </a:avLst>
          </a:prstGeom>
          <a:solidFill>
            <a:srgbClr val="EA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/>
          <a:lstStyle/>
          <a:p>
            <a:pPr algn="ctr">
              <a:defRPr sz="2000" b="1">
                <a:solidFill>
                  <a:srgbClr val="275DA8"/>
                </a:solidFill>
                <a:latin typeface="Calibri"/>
              </a:defRPr>
            </a:pPr>
            <a:r>
              <a:t>41.996</a:t>
            </a:r>
          </a:p>
          <a:p>
            <a:pPr algn="ctr">
              <a:spcBef>
                <a:spcPts val="200"/>
              </a:spcBef>
              <a:defRPr sz="900">
                <a:solidFill>
                  <a:srgbClr val="667085"/>
                </a:solidFill>
                <a:latin typeface="Calibri"/>
              </a:defRPr>
            </a:pPr>
            <a:r>
              <a:t>Eventos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667085"/>
                </a:solidFill>
                <a:latin typeface="Calibri"/>
              </a:defRPr>
            </a:pPr>
            <a:r>
              <a:t>Priorización de revisión humana; no prueba conductas indebidas.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60175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085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7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63241"/>
                </a:solidFill>
                <a:latin typeface="Calibri"/>
              </a:defRPr>
            </a:pPr>
            <a:r>
              <a:t>Arquitectura de extremo a extremo</a:t>
            </a:r>
          </a:p>
        </p:txBody>
      </p:sp>
      <p:pic>
        <p:nvPicPr>
          <p:cNvPr id="4" name="Picture 3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63040"/>
            <a:ext cx="10332720" cy="581215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66928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 i="1">
                <a:solidFill>
                  <a:srgbClr val="667085"/>
                </a:solidFill>
                <a:latin typeface="Calibri"/>
              </a:defRPr>
            </a:pPr>
            <a:r>
              <a:t>Socrata → ETL → PostgreSQL + MongoDB → FastAPI → Dash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667085"/>
                </a:solidFill>
                <a:latin typeface="Calibri"/>
              </a:defRPr>
            </a:pPr>
            <a:r>
              <a:t>Priorización de revisión humana; no prueba conductas indebidas.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60175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085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7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63241"/>
                </a:solidFill>
                <a:latin typeface="Calibri"/>
              </a:defRPr>
            </a:pPr>
            <a:r>
              <a:t>Modelo relacional como fuente de verdad</a:t>
            </a:r>
          </a:p>
        </p:txBody>
      </p:sp>
      <p:pic>
        <p:nvPicPr>
          <p:cNvPr id="4" name="Picture 3" descr="er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698480" cy="60178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66928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 i="1">
                <a:solidFill>
                  <a:srgbClr val="667085"/>
                </a:solidFill>
                <a:latin typeface="Calibri"/>
              </a:defRPr>
            </a:pPr>
            <a:r>
              <a:t>27 tablas relacionales con PK/FK, constraints e índices; 33 objetos públicos incluyendo vistas.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667085"/>
                </a:solidFill>
                <a:latin typeface="Calibri"/>
              </a:defRPr>
            </a:pPr>
            <a:r>
              <a:t>Priorización de revisión humana; no prueba conductas indebidas.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60175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085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7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63241"/>
                </a:solidFill>
                <a:latin typeface="Calibri"/>
              </a:defRPr>
            </a:pPr>
            <a:r>
              <a:t>NoSQL y auditoría documental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59436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/>
                <a:gridCol w="1981200"/>
                <a:gridCol w="1981200"/>
              </a:tblGrid>
              <a:tr h="5791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Colección</a:t>
                      </a:r>
                    </a:p>
                  </a:txBody>
                  <a:tcPr>
                    <a:solidFill>
                      <a:srgbClr val="275D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Documentos</a:t>
                      </a:r>
                    </a:p>
                  </a:txBody>
                  <a:tcPr>
                    <a:solidFill>
                      <a:srgbClr val="275D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Propósito</a:t>
                      </a:r>
                    </a:p>
                  </a:txBody>
                  <a:tcPr>
                    <a:solidFill>
                      <a:srgbClr val="275DA8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63241"/>
                          </a:solidFill>
                          <a:latin typeface="Calibri"/>
                        </a:defRPr>
                      </a:pPr>
                      <a:r>
                        <a:t>raw_process_snapshots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63241"/>
                          </a:solidFill>
                          <a:latin typeface="Calibri"/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63241"/>
                          </a:solidFill>
                          <a:latin typeface="Calibri"/>
                        </a:defRPr>
                      </a:pPr>
                      <a:r>
                        <a:t>Snapshot crudo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63241"/>
                          </a:solidFill>
                          <a:latin typeface="Calibri"/>
                        </a:defRPr>
                      </a:pPr>
                      <a:r>
                        <a:t>etl_run_logs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63241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63241"/>
                          </a:solidFill>
                          <a:latin typeface="Calibri"/>
                        </a:defRPr>
                      </a:pPr>
                      <a:r>
                        <a:t>Log de ejecución ETL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63241"/>
                          </a:solidFill>
                          <a:latin typeface="Calibri"/>
                        </a:defRPr>
                      </a:pPr>
                      <a:r>
                        <a:t>risk_event_logs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63241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63241"/>
                          </a:solidFill>
                          <a:latin typeface="Calibri"/>
                        </a:defRPr>
                      </a:pPr>
                      <a:r>
                        <a:t>Eventos de riesgo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63241"/>
                          </a:solidFill>
                          <a:latin typeface="Calibri"/>
                        </a:defRPr>
                      </a:pPr>
                      <a:r>
                        <a:t>report_snapshots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63241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63241"/>
                          </a:solidFill>
                          <a:latin typeface="Calibri"/>
                        </a:defRPr>
                      </a:pPr>
                      <a:r>
                        <a:t>Reportes generados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63241"/>
                          </a:solidFill>
                          <a:latin typeface="Calibri"/>
                        </a:defRPr>
                      </a:pPr>
                      <a:r>
                        <a:t>user_action_logs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63241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63241"/>
                          </a:solidFill>
                          <a:latin typeface="Calibri"/>
                        </a:defRPr>
                      </a:pPr>
                      <a:r>
                        <a:t>Acciones de usuario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132320" y="2286000"/>
            <a:ext cx="41148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263241"/>
                </a:solidFill>
                <a:latin typeface="Calibri"/>
              </a:defRPr>
            </a:pPr>
            <a:r>
              <a:t>MongoDB guarda evidencia flexible</a:t>
            </a:r>
            <a:br/>
            <a:r>
              <a:t>sin deformar el modelo relacional.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667085"/>
                </a:solidFill>
                <a:latin typeface="Calibri"/>
              </a:defRPr>
            </a:pPr>
            <a:r>
              <a:t>Priorización de revisión humana; no prueba conductas indebidas.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60175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085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7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63241"/>
                </a:solidFill>
                <a:latin typeface="Calibri"/>
              </a:defRPr>
            </a:pPr>
            <a:r>
              <a:t>SQL engineering visible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029200" cy="1645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spcAft>
                <a:spcPts val="400"/>
              </a:spcAft>
              <a:defRPr sz="1400" b="1">
                <a:solidFill>
                  <a:srgbClr val="275DA8"/>
                </a:solidFill>
                <a:latin typeface="Calibri"/>
              </a:defRPr>
            </a:pPr>
            <a:r>
              <a:t>Triggers</a:t>
            </a:r>
          </a:p>
          <a:p>
            <a:pPr>
              <a:spcBef>
                <a:spcPts val="200"/>
              </a:spcBef>
              <a:defRPr sz="1200">
                <a:solidFill>
                  <a:srgbClr val="667085"/>
                </a:solidFill>
                <a:latin typeface="Calibri"/>
              </a:defRPr>
            </a:pPr>
            <a:r>
              <a:t>audit_log, historial, updated_at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029200" cy="1645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spcAft>
                <a:spcPts val="400"/>
              </a:spcAft>
              <a:defRPr sz="1400" b="1">
                <a:solidFill>
                  <a:srgbClr val="275DA8"/>
                </a:solidFill>
                <a:latin typeface="Calibri"/>
              </a:defRPr>
            </a:pPr>
            <a:r>
              <a:t>Window functions</a:t>
            </a:r>
          </a:p>
          <a:p>
            <a:pPr>
              <a:spcBef>
                <a:spcPts val="200"/>
              </a:spcBef>
              <a:defRPr sz="1200">
                <a:solidFill>
                  <a:srgbClr val="667085"/>
                </a:solidFill>
                <a:latin typeface="Calibri"/>
              </a:defRPr>
            </a:pPr>
            <a:r>
              <a:t>Concentración y outliers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566160"/>
            <a:ext cx="5029200" cy="1645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spcAft>
                <a:spcPts val="400"/>
              </a:spcAft>
              <a:defRPr sz="1400" b="1">
                <a:solidFill>
                  <a:srgbClr val="275DA8"/>
                </a:solidFill>
                <a:latin typeface="Calibri"/>
              </a:defRPr>
            </a:pPr>
            <a:r>
              <a:t>CTE recursiva</a:t>
            </a:r>
          </a:p>
          <a:p>
            <a:pPr>
              <a:spcBef>
                <a:spcPts val="200"/>
              </a:spcBef>
              <a:defRPr sz="1200">
                <a:solidFill>
                  <a:srgbClr val="667085"/>
                </a:solidFill>
                <a:latin typeface="Calibri"/>
              </a:defRPr>
            </a:pPr>
            <a:r>
              <a:t>Jerarquía territorial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566160"/>
            <a:ext cx="5029200" cy="1645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spcAft>
                <a:spcPts val="400"/>
              </a:spcAft>
              <a:defRPr sz="1400" b="1">
                <a:solidFill>
                  <a:srgbClr val="275DA8"/>
                </a:solidFill>
                <a:latin typeface="Calibri"/>
              </a:defRPr>
            </a:pPr>
            <a:r>
              <a:t>Transacciones</a:t>
            </a:r>
          </a:p>
          <a:p>
            <a:pPr>
              <a:spcBef>
                <a:spcPts val="200"/>
              </a:spcBef>
              <a:defRPr sz="1200">
                <a:solidFill>
                  <a:srgbClr val="667085"/>
                </a:solidFill>
                <a:latin typeface="Calibri"/>
              </a:defRPr>
            </a:pPr>
            <a:r>
              <a:t>Score + evento atómico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303520"/>
            <a:ext cx="10972800" cy="12700"/>
          </a:xfrm>
          <a:prstGeom prst="rect">
            <a:avLst/>
          </a:prstGeom>
          <a:solidFill>
            <a:srgbClr val="D9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48640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263241"/>
                </a:solidFill>
                <a:latin typeface="Calibri"/>
              </a:defRPr>
            </a:pPr>
            <a:r>
              <a:t>No es solo almacenamiento: hay integridad, trazabilidad y consultas analíticas reproducibles.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667085"/>
                </a:solidFill>
                <a:latin typeface="Calibri"/>
              </a:defRPr>
            </a:pPr>
            <a:r>
              <a:t>Priorización de revisión humana; no prueba conductas indebidas.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60175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085"/>
                </a:solidFill>
                <a:latin typeface="Calibr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7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63241"/>
                </a:solidFill>
                <a:latin typeface="Calibri"/>
              </a:defRPr>
            </a:pPr>
            <a:r>
              <a:t>Score explicable, no veredicto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447" y="1645920"/>
            <a:ext cx="2011680" cy="2377440"/>
          </a:xfrm>
          <a:prstGeom prst="roundRect">
            <a:avLst>
              <a:gd name="adj" fmla="val 4000"/>
            </a:avLst>
          </a:prstGeom>
          <a:solidFill>
            <a:srgbClr val="EAF1FB"/>
          </a:solidFill>
          <a:ln w="12700">
            <a:solidFill>
              <a:srgbClr val="D9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spcAft>
                <a:spcPts val="400"/>
              </a:spcAft>
              <a:defRPr sz="1300" b="1">
                <a:solidFill>
                  <a:srgbClr val="275DA8"/>
                </a:solidFill>
                <a:latin typeface="Calibri"/>
              </a:defRPr>
            </a:pPr>
            <a:r>
              <a:t>Reglas</a:t>
            </a:r>
          </a:p>
          <a:p>
            <a:pPr>
              <a:spcBef>
                <a:spcPts val="200"/>
              </a:spcBef>
              <a:defRPr sz="1000">
                <a:solidFill>
                  <a:srgbClr val="667085"/>
                </a:solidFill>
                <a:latin typeface="Calibri"/>
              </a:defRPr>
            </a:pPr>
            <a:r>
              <a:t>Heurísticas de</a:t>
            </a:r>
            <a:br/>
            <a:r>
              <a:t>riesgo contractivo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49727" y="1645920"/>
            <a:ext cx="2011680" cy="2377440"/>
          </a:xfrm>
          <a:prstGeom prst="roundRect">
            <a:avLst>
              <a:gd name="adj" fmla="val 4000"/>
            </a:avLst>
          </a:prstGeom>
          <a:solidFill>
            <a:srgbClr val="EAF1FB"/>
          </a:solidFill>
          <a:ln w="12700">
            <a:solidFill>
              <a:srgbClr val="D9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spcAft>
                <a:spcPts val="400"/>
              </a:spcAft>
              <a:defRPr sz="1300" b="1">
                <a:solidFill>
                  <a:srgbClr val="275DA8"/>
                </a:solidFill>
                <a:latin typeface="Calibri"/>
              </a:defRPr>
            </a:pPr>
            <a:r>
              <a:t>Pares</a:t>
            </a:r>
          </a:p>
          <a:p>
            <a:pPr>
              <a:spcBef>
                <a:spcPts val="200"/>
              </a:spcBef>
              <a:defRPr sz="1000">
                <a:solidFill>
                  <a:srgbClr val="667085"/>
                </a:solidFill>
                <a:latin typeface="Calibri"/>
              </a:defRPr>
            </a:pPr>
            <a:r>
              <a:t>Comparables por</a:t>
            </a:r>
            <a:br/>
            <a:r>
              <a:t>segmento y valor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90007" y="1645920"/>
            <a:ext cx="2011680" cy="2377440"/>
          </a:xfrm>
          <a:prstGeom prst="roundRect">
            <a:avLst>
              <a:gd name="adj" fmla="val 4000"/>
            </a:avLst>
          </a:prstGeom>
          <a:solidFill>
            <a:srgbClr val="EAF1FB"/>
          </a:solidFill>
          <a:ln w="12700">
            <a:solidFill>
              <a:srgbClr val="D9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spcAft>
                <a:spcPts val="400"/>
              </a:spcAft>
              <a:defRPr sz="1300" b="1">
                <a:solidFill>
                  <a:srgbClr val="275DA8"/>
                </a:solidFill>
                <a:latin typeface="Calibri"/>
              </a:defRPr>
            </a:pPr>
            <a:r>
              <a:t>Anomalía</a:t>
            </a:r>
          </a:p>
          <a:p>
            <a:pPr>
              <a:spcBef>
                <a:spcPts val="200"/>
              </a:spcBef>
              <a:defRPr sz="1000">
                <a:solidFill>
                  <a:srgbClr val="667085"/>
                </a:solidFill>
                <a:latin typeface="Calibri"/>
              </a:defRPr>
            </a:pPr>
            <a:r>
              <a:t>Desviación estadística</a:t>
            </a:r>
            <a:br/>
            <a:r>
              <a:t>del patrón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30287" y="1645920"/>
            <a:ext cx="2011680" cy="2377440"/>
          </a:xfrm>
          <a:prstGeom prst="roundRect">
            <a:avLst>
              <a:gd name="adj" fmla="val 4000"/>
            </a:avLst>
          </a:prstGeom>
          <a:solidFill>
            <a:srgbClr val="EAF1FB"/>
          </a:solidFill>
          <a:ln w="12700">
            <a:solidFill>
              <a:srgbClr val="D9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spcAft>
                <a:spcPts val="400"/>
              </a:spcAft>
              <a:defRPr sz="1300" b="1">
                <a:solidFill>
                  <a:srgbClr val="275DA8"/>
                </a:solidFill>
                <a:latin typeface="Calibri"/>
              </a:defRPr>
            </a:pPr>
            <a:r>
              <a:t>Confianza</a:t>
            </a:r>
          </a:p>
          <a:p>
            <a:pPr>
              <a:spcBef>
                <a:spcPts val="200"/>
              </a:spcBef>
              <a:defRPr sz="1000">
                <a:solidFill>
                  <a:srgbClr val="667085"/>
                </a:solidFill>
                <a:latin typeface="Calibri"/>
              </a:defRPr>
            </a:pPr>
            <a:r>
              <a:t>0–1 según cobertura</a:t>
            </a:r>
            <a:br/>
            <a:r>
              <a:t>de datos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70567" y="1645920"/>
            <a:ext cx="2011680" cy="2377440"/>
          </a:xfrm>
          <a:prstGeom prst="roundRect">
            <a:avLst>
              <a:gd name="adj" fmla="val 4000"/>
            </a:avLst>
          </a:prstGeom>
          <a:solidFill>
            <a:srgbClr val="EAF1FB"/>
          </a:solidFill>
          <a:ln w="12700">
            <a:solidFill>
              <a:srgbClr val="D9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>
              <a:spcAft>
                <a:spcPts val="400"/>
              </a:spcAft>
              <a:defRPr sz="1300" b="1">
                <a:solidFill>
                  <a:srgbClr val="275DA8"/>
                </a:solidFill>
                <a:latin typeface="Calibri"/>
              </a:defRPr>
            </a:pPr>
            <a:r>
              <a:t>Razones</a:t>
            </a:r>
          </a:p>
          <a:p>
            <a:pPr>
              <a:spcBef>
                <a:spcPts val="200"/>
              </a:spcBef>
              <a:defRPr sz="1000">
                <a:solidFill>
                  <a:srgbClr val="667085"/>
                </a:solidFill>
                <a:latin typeface="Calibri"/>
              </a:defRPr>
            </a:pPr>
            <a:r>
              <a:t>Texto legible por</a:t>
            </a:r>
            <a:br/>
            <a:r>
              <a:t>humano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754880"/>
            <a:ext cx="10972800" cy="12700"/>
          </a:xfrm>
          <a:prstGeom prst="rect">
            <a:avLst/>
          </a:prstGeom>
          <a:solidFill>
            <a:srgbClr val="D9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02920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275DA8"/>
                </a:solidFill>
                <a:latin typeface="Calibri"/>
              </a:defRPr>
            </a:pPr>
            <a:r>
              <a:t>Salida: score de prioridad + confianza + razones + comparables.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667085"/>
                </a:solidFill>
                <a:latin typeface="Calibri"/>
              </a:defRPr>
            </a:pPr>
            <a:r>
              <a:t>Priorización de revisión humana; no prueba conductas indebidas.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60175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085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7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63241"/>
                </a:solidFill>
                <a:latin typeface="Calibri"/>
              </a:defRPr>
            </a:pPr>
            <a:r>
              <a:t>Demo: flujo de revisión</a:t>
            </a:r>
          </a:p>
        </p:txBody>
      </p:sp>
      <p:pic>
        <p:nvPicPr>
          <p:cNvPr id="4" name="Picture 3" descr="screenshot_dashboard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327" y="1463040"/>
            <a:ext cx="3291840" cy="3291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2327" y="4937760"/>
            <a:ext cx="3291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667085"/>
                </a:solidFill>
                <a:latin typeface="Calibri"/>
              </a:defRPr>
            </a:pPr>
            <a:r>
              <a:t>1  Panorama</a:t>
            </a:r>
          </a:p>
        </p:txBody>
      </p:sp>
      <p:pic>
        <p:nvPicPr>
          <p:cNvPr id="6" name="Picture 5" descr="screenshot_rank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9927" y="1463040"/>
            <a:ext cx="3291840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49927" y="4937760"/>
            <a:ext cx="3291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667085"/>
                </a:solidFill>
                <a:latin typeface="Calibri"/>
              </a:defRPr>
            </a:pPr>
            <a:r>
              <a:t>2  Ranking</a:t>
            </a:r>
          </a:p>
        </p:txBody>
      </p:sp>
      <p:pic>
        <p:nvPicPr>
          <p:cNvPr id="8" name="Picture 7" descr="screenshot_process_deta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7527" y="1463040"/>
            <a:ext cx="3291840" cy="3291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07527" y="4937760"/>
            <a:ext cx="3291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667085"/>
                </a:solidFill>
                <a:latin typeface="Calibri"/>
              </a:defRPr>
            </a:pPr>
            <a:r>
              <a:t>3  Detalle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48640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 i="1">
                <a:solidFill>
                  <a:srgbClr val="263241"/>
                </a:solidFill>
                <a:latin typeface="Calibri"/>
              </a:defRPr>
            </a:pPr>
            <a:r>
              <a:t>El usuario entiende el universo, filtra candidatos y revisa evidencia trazable.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667085"/>
                </a:solidFill>
                <a:latin typeface="Calibri"/>
              </a:defRPr>
            </a:pPr>
            <a:r>
              <a:t>Priorización de revisión humana; no prueba conductas indebidas.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60175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085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7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63241"/>
                </a:solidFill>
                <a:latin typeface="Calibri"/>
              </a:defRPr>
            </a:pPr>
            <a:r>
              <a:t>Validación, límites y siguiente paso</a:t>
            </a:r>
          </a:p>
        </p:txBody>
      </p:sp>
      <p:pic>
        <p:nvPicPr>
          <p:cNvPr id="4" name="Picture 3" descr="validation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5303520" cy="29832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0" y="164592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2F8F64"/>
                </a:solidFill>
                <a:latin typeface="Calibri"/>
              </a:defRPr>
            </a:pPr>
            <a:r>
              <a:t>Validación final: ok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0" y="2286000"/>
            <a:ext cx="4572000" cy="12700"/>
          </a:xfrm>
          <a:prstGeom prst="rect">
            <a:avLst/>
          </a:prstGeom>
          <a:solidFill>
            <a:srgbClr val="D9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2560320"/>
            <a:ext cx="5029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263241"/>
                </a:solidFill>
                <a:latin typeface="Calibri"/>
              </a:defRPr>
            </a:pPr>
            <a:r>
              <a:t>Límites: datos ruidosos, joins imperfectos,</a:t>
            </a:r>
            <a:br/>
            <a:r>
              <a:t>requiere revisión humana.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3840480"/>
            <a:ext cx="5029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275DA8"/>
                </a:solidFill>
                <a:latin typeface="Calibri"/>
              </a:defRPr>
            </a:pPr>
            <a:r>
              <a:t>Siguiente: encuesta real con 5 usuarios</a:t>
            </a:r>
            <a:br/>
            <a:r>
              <a:t>y piloto controlado.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667085"/>
                </a:solidFill>
                <a:latin typeface="Calibri"/>
              </a:defRPr>
            </a:pPr>
            <a:r>
              <a:t>Priorización de revisión humana; no prueba conductas indebidas.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60175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085"/>
                </a:solidFill>
                <a:latin typeface="Calibr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