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14255" y="0"/>
            <a:ext cx="2377440" cy="164592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E35A4B"/>
                </a:solidFill>
                <a:latin typeface="Calibri"/>
              </a:defRPr>
            </a:pPr>
            <a:r>
              <a:t>CONCURSO DATOS AL ECOSISTEMA 2026  ·  IA PARA 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6400" b="1" i="0">
                <a:solidFill>
                  <a:srgbClr val="FFFFFF"/>
                </a:solidFill>
                <a:latin typeface="Calibri"/>
              </a:defRPr>
            </a:pPr>
            <a:r>
              <a:t>ContratIA Abierta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000" b="0" i="0">
                <a:solidFill>
                  <a:srgbClr val="EEF2F8"/>
                </a:solidFill>
                <a:latin typeface="Calibri"/>
              </a:defRPr>
            </a:pPr>
            <a:r>
              <a:t>IA explicable para priorizar la revisión humana de la contratación pública en Colombia.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1">
                <a:solidFill>
                  <a:srgbClr val="F5EAD2"/>
                </a:solidFill>
                <a:latin typeface="Calibri"/>
              </a:defRPr>
            </a:pPr>
            <a:r>
              <a:t>No detectamos corrupción.  Ordenamos qué revisar primero, con evidencia trazable.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34840"/>
            <a:ext cx="109728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2011679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38100" bIns="381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Datos abiertos SECOP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1" y="4754880"/>
            <a:ext cx="2176272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38100" bIns="381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Score 0–100 explicable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0095" y="4754880"/>
            <a:ext cx="2340864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38100" bIns="381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Revisión humana trazable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45551" y="4754880"/>
            <a:ext cx="2011679" cy="310896"/>
          </a:xfrm>
          <a:prstGeom prst="roundRect">
            <a:avLst>
              <a:gd name="adj" fmla="val 50000"/>
            </a:avLst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38100" bIns="38100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Orinoquía → Colombia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Categoría: Gobernanza y Transparencia   ·   Región demo: Meta y Casanare   ·   Universidad del Rosario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No faltan datos. Falta capacidad humana para revisarlos.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37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0" i="0">
                <a:solidFill>
                  <a:srgbClr val="0B1E33"/>
                </a:solidFill>
                <a:latin typeface="Calibri"/>
              </a:defRPr>
            </a:pPr>
            <a:r>
              <a:t>Cada año Colombia publica cientos de miles de procesos en SECOP. Oficinas de control interno, veedurías y periodistas no tienen tiempo para revisarlos todos. La pregunta operativa real es: ¿qué se revisa primero esta semana?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10896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3108960"/>
            <a:ext cx="50800" cy="21945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Miles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de procesos publicados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5196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por entidad y año en SECOP.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10896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3108960"/>
            <a:ext cx="50800" cy="219456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32461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Decenas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84048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de revisores humanos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25196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con tiempo y capacidad limitada.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3108960"/>
            <a:ext cx="3520440" cy="21945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3108960"/>
            <a:ext cx="50800" cy="219456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3246120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Una decisión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3840480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semanal real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51960"/>
            <a:ext cx="3154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qué priorizar, con qué evidencia.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669280"/>
            <a:ext cx="10972800" cy="54864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77900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1">
                <a:solidFill>
                  <a:srgbClr val="0B1E33"/>
                </a:solidFill>
                <a:latin typeface="Calibri"/>
              </a:defRPr>
            </a:pPr>
            <a:r>
              <a:t>Triage de contratación: convertir un océano de procesos en una cola priorizada y auditable.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LA TESIS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Qué hace ContratIA Abierta y qué NO hace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164592" cy="411480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F827C"/>
                </a:solidFill>
                <a:latin typeface="Calibri"/>
              </a:defRPr>
            </a:pPr>
            <a:r>
              <a:t>SÍ HACE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Ranking 0–100 explicable de procesos a revisar.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6060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Comparables: ¿con qué se parece este proceso?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Alineación plan (PAA) vs ejecución (SECOP II).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61188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Razones legibles para humano + confianza visible.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Trazabilidad: fuente, fecha, snapshot, hash.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164592" cy="41148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9164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E35A4B"/>
                </a:solidFill>
                <a:latin typeface="Calibri"/>
              </a:defRPr>
            </a:pPr>
            <a:r>
              <a:t>NO HACE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0312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declara corrupción, fraude ni responsabilidad.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0604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reemplaza auditoría jurídica ni fiscal.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10896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deanonimiza más allá del dato público.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1188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usa contexto fiscal como etiqueta del modelo.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411480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•  No reemplaza la decisión humana: la informa.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053328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1">
                <a:solidFill>
                  <a:srgbClr val="103A5C"/>
                </a:solidFill>
                <a:latin typeface="Calibri"/>
              </a:defRPr>
            </a:pPr>
            <a:r>
              <a:t>Un score alto significa “revísalo primero con evidencia”, no “es corrupción”.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USUARIO Y DECISIÓN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¿Para quién es y qué decide cada semana?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691640"/>
            <a:ext cx="3611880" cy="508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Control interno / transparencia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Usuario primario.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3464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556076"/>
                </a:solidFill>
                <a:latin typeface="Calibri"/>
              </a:defRPr>
            </a:pPr>
            <a:r>
              <a:t>Decide qué procesos auditar esta semana con capacidad limitada.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69164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26280" y="1691640"/>
            <a:ext cx="3611880" cy="5080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874519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Veeduría ciudadana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4688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F827C"/>
                </a:solidFill>
                <a:latin typeface="Calibri"/>
              </a:defRPr>
            </a:pPr>
            <a:r>
              <a:t>Usuario secundario.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83464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556076"/>
                </a:solidFill>
                <a:latin typeface="Calibri"/>
              </a:defRPr>
            </a:pPr>
            <a:r>
              <a:t>Prioriza casos con evidencia para denuncia ciudadana documentada.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1691640"/>
            <a:ext cx="3611880" cy="2926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66760" y="1691640"/>
            <a:ext cx="3611880" cy="508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41080" y="1874519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Periodista de datos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246888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Usuario secundario.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834640"/>
            <a:ext cx="3154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556076"/>
                </a:solidFill>
                <a:latin typeface="Calibri"/>
              </a:defRPr>
            </a:pPr>
            <a:r>
              <a:t>Encuentra patrones territoriales con trazabilidad para publicar.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937760"/>
            <a:ext cx="10972800" cy="118872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74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DECISIÓN SEMANAL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“De los procesos publicados esta semana, ¿cuáles 20 revisamos primero y por qué?”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1500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1">
                <a:solidFill>
                  <a:srgbClr val="556076"/>
                </a:solidFill>
                <a:latin typeface="Calibri"/>
              </a:defRPr>
            </a:pPr>
            <a:r>
              <a:t>ContratIA Abierta convierte esa pregunta en una cola priorizada y auditable.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FUENTES OFICIALES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Cuatro datasets abiertos del ecosistema Datos Abiertos Colombia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54406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63500" cy="150876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03A5C"/>
                </a:solidFill>
                <a:latin typeface="Consolas"/>
              </a:defRPr>
            </a:pPr>
            <a:r>
              <a:t>p6dx-8zbt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8600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SECOP II — Procesos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4320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Procesos de contratación pública (canónico).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783080"/>
            <a:ext cx="54406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783080"/>
            <a:ext cx="63500" cy="150876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1F827C"/>
                </a:solidFill>
                <a:latin typeface="Consolas"/>
              </a:defRPr>
            </a:pPr>
            <a:r>
              <a:t>rpmr-utcd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8600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SECOP Integrado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74320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Histórico de contratos cerrados (baseline de valor).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74720"/>
            <a:ext cx="54406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474720"/>
            <a:ext cx="63500" cy="150876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11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E35A4B"/>
                </a:solidFill>
                <a:latin typeface="Consolas"/>
              </a:defRPr>
            </a:pPr>
            <a:r>
              <a:t>9sue-ezhx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97764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Plan Anual de Adquisiciones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Lo que la entidad planeó comprar (PAA detalle).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474720"/>
            <a:ext cx="544068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474720"/>
            <a:ext cx="63500" cy="1508760"/>
          </a:xfrm>
          <a:prstGeom prst="rect">
            <a:avLst/>
          </a:prstGeom>
          <a:solidFill>
            <a:srgbClr val="556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61188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1" i="0">
                <a:solidFill>
                  <a:srgbClr val="556076"/>
                </a:solidFill>
                <a:latin typeface="Consolas"/>
              </a:defRPr>
            </a:pPr>
            <a:r>
              <a:t>wasc-xi4h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97764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Resultados de auditoría (AGR)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434840"/>
            <a:ext cx="4983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Contexto fiscal — visible, no etiqueta del modelo.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400" b="1">
                <a:solidFill>
                  <a:srgbClr val="103A5C"/>
                </a:solidFill>
                <a:latin typeface="Calibri"/>
              </a:defRPr>
            </a:pPr>
            <a:r>
              <a:t>17.229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procesos demo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3756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400" b="1">
                <a:solidFill>
                  <a:srgbClr val="103A5C"/>
                </a:solidFill>
                <a:latin typeface="Calibri"/>
              </a:defRPr>
            </a:pPr>
            <a:r>
              <a:t>4.494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PAA items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3504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400" b="1">
                <a:solidFill>
                  <a:srgbClr val="103A5C"/>
                </a:solidFill>
                <a:latin typeface="Calibri"/>
              </a:defRPr>
            </a:pPr>
            <a:r>
              <a:t>68.916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razones explicables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32520" y="5212080"/>
            <a:ext cx="2606040" cy="914400"/>
          </a:xfrm>
          <a:prstGeom prst="roundRect">
            <a:avLst>
              <a:gd name="adj" fmla="val 8000"/>
            </a:avLst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400" b="1">
                <a:solidFill>
                  <a:srgbClr val="103A5C"/>
                </a:solidFill>
                <a:latin typeface="Calibri"/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datos abiertos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CÓMO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Pipeline reproducible: del dato abierto al ranking explicable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91737" y="2194560"/>
            <a:ext cx="640080" cy="640080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1737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17520"/>
            <a:ext cx="1743395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54680"/>
            <a:ext cx="17433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Extracción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60"/>
            <a:ext cx="14690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Socrata API</a:t>
            </a:r>
            <a:br/>
            <a:r>
              <a:t>+ snapshots Parquet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429195" y="2441448"/>
            <a:ext cx="457200" cy="201168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83772" y="2194560"/>
            <a:ext cx="640080" cy="640080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772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32115" y="3017520"/>
            <a:ext cx="1743395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2115" y="3154680"/>
            <a:ext cx="17433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Limpieza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9275" y="3566160"/>
            <a:ext cx="14690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Normalización,</a:t>
            </a:r>
            <a:br/>
            <a:r>
              <a:t>IDs estables, dedup.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21230" y="2441448"/>
            <a:ext cx="457200" cy="201168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775807" y="2194560"/>
            <a:ext cx="640080" cy="640080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75807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24150" y="3017520"/>
            <a:ext cx="1743395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4150" y="3154680"/>
            <a:ext cx="17433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Matching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1310" y="3566160"/>
            <a:ext cx="14690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PAA ↔ proceso por</a:t>
            </a:r>
            <a:br/>
            <a:r>
              <a:t>similitud + reglas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013265" y="2441448"/>
            <a:ext cx="457200" cy="201168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67842" y="2194560"/>
            <a:ext cx="640080" cy="640080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67842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516185" y="3017520"/>
            <a:ext cx="1743395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16185" y="3154680"/>
            <a:ext cx="17433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Scoring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345" y="3566160"/>
            <a:ext cx="14690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Reglas + pares</a:t>
            </a:r>
            <a:br/>
            <a:r>
              <a:t>+ anomalía + confianza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05300" y="2441448"/>
            <a:ext cx="457200" cy="201168"/>
          </a:xfrm>
          <a:prstGeom prst="rightArrow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359877" y="2194560"/>
            <a:ext cx="640080" cy="640080"/>
          </a:xfrm>
          <a:prstGeom prst="ellipse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59877" y="21945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808220" y="3017520"/>
            <a:ext cx="1743395" cy="11887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08220" y="3154680"/>
            <a:ext cx="17433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300" b="1" i="0">
                <a:solidFill>
                  <a:srgbClr val="103A5C"/>
                </a:solidFill>
                <a:latin typeface="Calibri"/>
              </a:defRPr>
            </a:pPr>
            <a:r>
              <a:t>Evidencia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5380" y="3566160"/>
            <a:ext cx="1469075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Ranking + razones</a:t>
            </a:r>
            <a:br/>
            <a:r>
              <a:t>+ comparables + reporte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5120640"/>
            <a:ext cx="10972800" cy="100584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21208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Reproducibilidad real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4406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Un solo `make product-pipeline &amp;&amp; make validate-product` reconstruye el ranking desde cero con datos abiertos versionados. Sin black box: cada paso deja artefacto auditable.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ARQUITECTURA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Stack de Ingeniería de Datos completo y trazable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73152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1691640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01168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Extract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201168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Socrata SODA + Parquet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23957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Store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395728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PostgreSQL + MongoDB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779776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F827C"/>
                </a:solidFill>
                <a:latin typeface="Calibri"/>
              </a:defRPr>
            </a:pPr>
            <a:r>
              <a:t>Compute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779776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Python · uv · Polars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163824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F827C"/>
                </a:solidFill>
                <a:latin typeface="Calibri"/>
              </a:defRPr>
            </a:pPr>
            <a:r>
              <a:t>Serve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3163824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FastAPI (3 servicios)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547872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547872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Dash + Plotly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931920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Orquesta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93192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Make + Docker Compose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60350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1">
                <a:solidFill>
                  <a:srgbClr val="0B1E33"/>
                </a:solidFill>
                <a:latin typeface="Calibri"/>
              </a:defRPr>
            </a:pPr>
            <a:r>
              <a:t>PostgreSQL es fuente de verdad relacional. MongoDB guarda evidencia documental y eventos.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SCORE EXPLICABLE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Cuatro componentes auditables → un número entre 0 y 100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737360"/>
            <a:ext cx="2651760" cy="508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Reglas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Heurísticas verificables</a:t>
            </a:r>
            <a:br/>
            <a:r>
              <a:t>(modalidad, unicidad, plazos).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737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737360"/>
            <a:ext cx="2651760" cy="50800"/>
          </a:xfrm>
          <a:prstGeom prst="rect">
            <a:avLst/>
          </a:prstGeom>
          <a:solidFill>
            <a:srgbClr val="1F82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Pares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23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Desviación contra procesos</a:t>
            </a:r>
            <a:br/>
            <a:r>
              <a:t>comparables del segmento.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37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37360"/>
            <a:ext cx="2651760" cy="508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Anomalía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23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Componente estadístico</a:t>
            </a:r>
            <a:br/>
            <a:r>
              <a:t>(Isolation Forest).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173736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0" y="1737360"/>
            <a:ext cx="2651760" cy="50800"/>
          </a:xfrm>
          <a:prstGeom prst="rect">
            <a:avLst/>
          </a:prstGeom>
          <a:solidFill>
            <a:srgbClr val="5560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874519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500" b="1" i="0">
                <a:solidFill>
                  <a:srgbClr val="0B1E33"/>
                </a:solidFill>
                <a:latin typeface="Calibri"/>
              </a:defRPr>
            </a:pPr>
            <a:r>
              <a:t>Confianza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423160"/>
            <a:ext cx="21945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556076"/>
                </a:solidFill>
                <a:latin typeface="Calibri"/>
              </a:defRPr>
            </a:pPr>
            <a:r>
              <a:t>0–1 según cobertura</a:t>
            </a:r>
            <a:br/>
            <a:r>
              <a:t>y calidad de datos.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solidFill>
            <a:srgbClr val="EE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4348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INTERPRETACIÓN DEL SCORE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800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89204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1" i="0">
                <a:solidFill>
                  <a:srgbClr val="1F827C"/>
                </a:solidFill>
                <a:latin typeface="Calibri"/>
              </a:defRPr>
            </a:pPr>
            <a:r>
              <a:t>0–20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2120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0B1E33"/>
                </a:solidFill>
                <a:latin typeface="Calibri"/>
              </a:defRPr>
            </a:pPr>
            <a:r>
              <a:t>Típico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54864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Sin desviaciones relevantes.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0" y="4800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489204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1" i="0">
                <a:solidFill>
                  <a:srgbClr val="103A5C"/>
                </a:solidFill>
                <a:latin typeface="Calibri"/>
              </a:defRPr>
            </a:pPr>
            <a:r>
              <a:t>21–40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52120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0B1E33"/>
                </a:solidFill>
                <a:latin typeface="Calibri"/>
              </a:defRPr>
            </a:pPr>
            <a:r>
              <a:t>Leve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54864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Revisar solo si hay contexto sensible.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72200" y="4800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72200" y="489204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1" i="0">
                <a:solidFill>
                  <a:srgbClr val="C2842A"/>
                </a:solidFill>
                <a:latin typeface="Calibri"/>
              </a:defRPr>
            </a:pPr>
            <a:r>
              <a:t>41–70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52120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0B1E33"/>
                </a:solidFill>
                <a:latin typeface="Calibri"/>
              </a:defRPr>
            </a:pPr>
            <a:r>
              <a:t>Notable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54864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Revisión recomendada con evidencia.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4800600"/>
            <a:ext cx="260604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0" y="4892040"/>
            <a:ext cx="2606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400" b="1" i="0">
                <a:solidFill>
                  <a:srgbClr val="E35A4B"/>
                </a:solidFill>
                <a:latin typeface="Calibri"/>
              </a:defRPr>
            </a:pPr>
            <a:r>
              <a:t>71–100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5212080"/>
            <a:ext cx="2606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1000" b="1" i="0">
                <a:solidFill>
                  <a:srgbClr val="0B1E33"/>
                </a:solidFill>
                <a:latin typeface="Calibri"/>
              </a:defRPr>
            </a:pPr>
            <a:r>
              <a:t>Alta prioridad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0" y="548640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Multi-señal, revisar primero.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EVIDENCIA DE 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Métricas duras de un sistema reproducible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03A5C"/>
                </a:solidFill>
                <a:latin typeface="Calibri"/>
              </a:defRPr>
            </a:pPr>
            <a:r>
              <a:t>17.229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procesos cargados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017520" y="178308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F827C"/>
                </a:solidFill>
                <a:latin typeface="Calibri"/>
              </a:defRPr>
            </a:pPr>
            <a:r>
              <a:t>33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objetos PostgreSQL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178308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394960" y="178308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E35A4B"/>
                </a:solidFill>
                <a:latin typeface="Calibri"/>
              </a:defRPr>
            </a:pPr>
            <a:r>
              <a:t>5/5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colecciones MongoDB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178308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33756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03A5C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APIs FastAPI · health 200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3756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017520" y="333756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1F827C"/>
                </a:solidFill>
                <a:latin typeface="Calibri"/>
              </a:defRPr>
            </a:pPr>
            <a:r>
              <a:t>71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tests pytest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17520" y="333756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394960" y="3337560"/>
            <a:ext cx="224028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101600" bIns="101600"/>
          <a:lstStyle/>
          <a:p>
            <a:pPr algn="ctr">
              <a:defRPr sz="2800" b="1">
                <a:solidFill>
                  <a:srgbClr val="E35A4B"/>
                </a:solidFill>
                <a:latin typeface="Calibri"/>
              </a:defRPr>
            </a:pPr>
            <a:r>
              <a:t>21</a:t>
            </a:r>
          </a:p>
          <a:p>
            <a:pPr algn="ctr">
              <a:spcBef>
                <a:spcPts val="400"/>
              </a:spcBef>
              <a:defRPr sz="900">
                <a:solidFill>
                  <a:srgbClr val="556076"/>
                </a:solidFill>
                <a:latin typeface="Calibri"/>
              </a:defRPr>
            </a:pPr>
            <a:r>
              <a:t>documentos técnicos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94960" y="3337560"/>
            <a:ext cx="2240280" cy="1417320"/>
          </a:xfrm>
          <a:prstGeom prst="roundRect">
            <a:avLst>
              <a:gd name="adj" fmla="val 8000"/>
            </a:avLst>
          </a:prstGeom>
          <a:noFill/>
          <a:ln w="6350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1783080"/>
            <a:ext cx="4114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SQL ENGINEERING VISIBLE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79" y="214884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79" y="214884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audit_log · historial · updated_at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79" y="25603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Window functions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79" y="256032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concentración · outliers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97180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CTE recursiva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79" y="297180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jerarquía territorial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338328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Transacciones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79" y="338328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score + evento atómico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7947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03A5C"/>
                </a:solidFill>
                <a:latin typeface="Calibri"/>
              </a:defRPr>
            </a:pPr>
            <a:r>
              <a:t>Vistas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79" y="3794760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ranking + alineación PAA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DEMO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Tres clics: panorama → ranking → evidencia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screenshot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74520"/>
            <a:ext cx="3337560" cy="228600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640080" y="4389120"/>
            <a:ext cx="411480" cy="411480"/>
          </a:xfrm>
          <a:prstGeom prst="ellipse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38912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0740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Panorama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80060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El usuario entiende</a:t>
            </a:r>
            <a:br/>
            <a:r>
              <a:t>el universo a revisar.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78308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shot_ran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1874520"/>
            <a:ext cx="3337560" cy="2286000"/>
          </a:xfrm>
          <a:prstGeom prst="rect">
            <a:avLst/>
          </a:prstGeom>
        </p:spPr>
      </p:pic>
      <p:sp>
        <p:nvSpPr>
          <p:cNvPr id="15" name="Oval 14"/>
          <p:cNvSpPr/>
          <p:nvPr/>
        </p:nvSpPr>
        <p:spPr>
          <a:xfrm>
            <a:off x="4434840" y="4389120"/>
            <a:ext cx="411480" cy="411480"/>
          </a:xfrm>
          <a:prstGeom prst="ellipse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438912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40740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Ranking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480060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Procesos ordenados por</a:t>
            </a:r>
            <a:br/>
            <a:r>
              <a:t>prioridad, con confianza.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783080"/>
            <a:ext cx="352044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B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screenshot_process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874520"/>
            <a:ext cx="3337560" cy="2286000"/>
          </a:xfrm>
          <a:prstGeom prst="rect">
            <a:avLst/>
          </a:prstGeom>
        </p:spPr>
      </p:pic>
      <p:sp>
        <p:nvSpPr>
          <p:cNvPr id="21" name="Oval 20"/>
          <p:cNvSpPr/>
          <p:nvPr/>
        </p:nvSpPr>
        <p:spPr>
          <a:xfrm>
            <a:off x="8229600" y="4389120"/>
            <a:ext cx="411480" cy="411480"/>
          </a:xfrm>
          <a:prstGeom prst="ellipse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438912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440740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1" i="0">
                <a:solidFill>
                  <a:srgbClr val="0B1E33"/>
                </a:solidFill>
                <a:latin typeface="Calibri"/>
              </a:defRPr>
            </a:pPr>
            <a:r>
              <a:t>Detalle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4800600"/>
            <a:ext cx="2971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Razones, comparables</a:t>
            </a:r>
            <a:br/>
            <a:r>
              <a:t>y reporte exportable.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VALIDACIÓN Y LÍMITES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Qué validamos, qué falta, próximos pasos honestos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alidation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83080"/>
            <a:ext cx="5120640" cy="2880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1783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1F827C"/>
                </a:solidFill>
                <a:latin typeface="Calibri"/>
              </a:defRPr>
            </a:pPr>
            <a:r>
              <a:t>VALIDACIÓN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05740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 i="0">
                <a:solidFill>
                  <a:srgbClr val="1F827C"/>
                </a:solidFill>
                <a:latin typeface="Consolas"/>
              </a:defRPr>
            </a:pPr>
            <a:r>
              <a:t>make validate-final  ·  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88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0B1E33"/>
                </a:solidFill>
                <a:latin typeface="Calibri"/>
              </a:defRPr>
            </a:pPr>
            <a:r>
              <a:t>✓  Software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0632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71 tests pytest, lint estable, validación reproducible.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474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0B1E33"/>
                </a:solidFill>
                <a:latin typeface="Calibri"/>
              </a:defRPr>
            </a:pPr>
            <a:r>
              <a:t>✓ 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17.229 procesos cargados, joins auditados, fill rates documentados.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41605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1" i="0">
                <a:solidFill>
                  <a:srgbClr val="0B1E33"/>
                </a:solidFill>
                <a:latin typeface="Calibri"/>
              </a:defRPr>
            </a:pPr>
            <a:r>
              <a:t>✓  Compuerta PAA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34840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0" i="0">
                <a:solidFill>
                  <a:srgbClr val="556076"/>
                </a:solidFill>
                <a:latin typeface="Calibri"/>
              </a:defRPr>
            </a:pPr>
            <a:r>
              <a:t>Match top-1 con confianza ≥ 0.75 reportado por entidad y modalidad.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486400"/>
            <a:ext cx="10972800" cy="868680"/>
          </a:xfrm>
          <a:prstGeom prst="rect">
            <a:avLst/>
          </a:prstGeom>
          <a:solidFill>
            <a:srgbClr val="F5EA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7784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LÍMITES Y SIGUIENTE PASO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52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Validación humana de 100 casos + 5 entrevistas reales + backend de embeddings activable: ya hay protocolo, faltan revisores. Honesto &gt; teatro.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6200"/>
            <a:ext cx="1463040" cy="381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IMPACTO Y ESCALABILIDAD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95528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2600" b="1" i="0">
                <a:solidFill>
                  <a:srgbClr val="0B1E33"/>
                </a:solidFill>
                <a:latin typeface="Calibri"/>
              </a:defRPr>
            </a:pPr>
            <a:r>
              <a:t>De la Orinoquía a Colombia, con ética por diseño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4864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164592" cy="41148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DEMO ACTUAL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5029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200" b="0" i="0">
                <a:solidFill>
                  <a:srgbClr val="0B1E33"/>
                </a:solidFill>
                <a:latin typeface="Calibri"/>
              </a:defRPr>
            </a:pPr>
            <a:r>
              <a:t>Meta y Casanare — Orinoquía como banco de pruebas territorial: una oficina de control con capacidad limitada convierte 17.229 procesos en una cola priorizada de 50 casos revisables con razones visibles.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PRÓXIMOS PASOS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3484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→  Pilotos con 2 oficinas de control en Orinoquía.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8231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→  Activar backend de embeddings (sentence-transformers).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9784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→  Despliegue público read-only (Render/Fly).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77256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0B1E33"/>
                </a:solidFill>
                <a:latin typeface="Calibri"/>
              </a:defRPr>
            </a:pPr>
            <a:r>
              <a:t>→  Escalado por departamento, mismo pipeline.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0" y="1737360"/>
            <a:ext cx="5029200" cy="4389120"/>
          </a:xfrm>
          <a:prstGeom prst="roundRect">
            <a:avLst>
              <a:gd name="adj" fmla="val 4000"/>
            </a:avLst>
          </a:prstGeom>
          <a:solidFill>
            <a:srgbClr val="0B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965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ÉTICA POR DISEÑO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2860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Cinco compromisos no negociables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15468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•  Disclaimer visible en UI, reportes y exportes.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65760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•  Revisión humana obligatoria antes de cualquier acción.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416052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•  Trazabilidad: fuente, fecha, hash, snapshot.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66344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•  Contexto fiscal NO entra como etiqueta del modelo.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166360"/>
            <a:ext cx="45720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100" b="0" i="0">
                <a:solidFill>
                  <a:srgbClr val="EEF2F8"/>
                </a:solidFill>
                <a:latin typeface="Calibri"/>
              </a:defRPr>
            </a:pPr>
            <a:r>
              <a:t>•  Modelo y datos auditables: pesos y reglas públicos.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9224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800" b="0" i="1">
                <a:solidFill>
                  <a:srgbClr val="556076"/>
                </a:solidFill>
                <a:latin typeface="Calibri"/>
              </a:defRPr>
            </a:pPr>
            <a:r>
              <a:t>ContratIA Abierta  ·  Datos al Ecosistema 2026  ·  Prioriza revisión humana, no acusa.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29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defRPr sz="900" b="0" i="0">
                <a:solidFill>
                  <a:srgbClr val="556076"/>
                </a:solidFill>
                <a:latin typeface="Calibri"/>
              </a:defRPr>
            </a:pPr>
            <a: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E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ContratIA Abierta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0" i="0">
                <a:solidFill>
                  <a:srgbClr val="EEF2F8"/>
                </a:solidFill>
                <a:latin typeface="Calibri"/>
              </a:defRPr>
            </a:pPr>
            <a:r>
              <a:t>Prioriza revisión humana en la contratación pública colombiana.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300" b="0" i="1">
                <a:solidFill>
                  <a:srgbClr val="F5EAD2"/>
                </a:solidFill>
                <a:latin typeface="Calibri"/>
              </a:defRPr>
            </a:pPr>
            <a:r>
              <a:t>No detectamos corrupción. Ordenamos qué revisar primero, con evidencia trazable.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429000"/>
            <a:ext cx="1097280" cy="25400"/>
          </a:xfrm>
          <a:prstGeom prst="rect">
            <a:avLst/>
          </a:prstGeom>
          <a:solidFill>
            <a:srgbClr val="E35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EQUIPO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02336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Ingeniería de Datos · Universidad del Rosario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720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REPOSITORIO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4632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onsolas"/>
              </a:defRPr>
            </a:pPr>
            <a:r>
              <a:t>github.com/Thom-320/secop-risk-alerts-co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949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000" b="1" i="0">
                <a:solidFill>
                  <a:srgbClr val="E35A4B"/>
                </a:solidFill>
                <a:latin typeface="Calibri"/>
              </a:defRPr>
            </a:pPr>
            <a:r>
              <a:t>CATEGORÍA  ·  REGIÓN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6692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400" b="0" i="0">
                <a:solidFill>
                  <a:srgbClr val="FFFFFF"/>
                </a:solidFill>
                <a:latin typeface="Calibri"/>
              </a:defRPr>
            </a:pPr>
            <a:r>
              <a:t>Gobernanza y Transparencia  ·  Meta y Casanare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3749039"/>
            <a:ext cx="3749039" cy="2377440"/>
          </a:xfrm>
          <a:prstGeom prst="rect">
            <a:avLst/>
          </a:prstGeom>
          <a:solidFill>
            <a:srgbClr val="10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3886200"/>
            <a:ext cx="34747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defRPr sz="1800" b="1" i="1">
                <a:solidFill>
                  <a:srgbClr val="FFFFFF"/>
                </a:solidFill>
                <a:latin typeface="Calibri"/>
              </a:defRPr>
            </a:pPr>
            <a:r>
              <a:t>“Convierte</a:t>
            </a:r>
            <a:br/>
            <a:r>
              <a:t>una revisión</a:t>
            </a:r>
            <a:br/>
            <a:r>
              <a:t>imposible</a:t>
            </a:r>
            <a:br/>
            <a:r>
              <a:t>en una cola</a:t>
            </a:r>
            <a:br/>
            <a:r>
              <a:t>auditable.”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