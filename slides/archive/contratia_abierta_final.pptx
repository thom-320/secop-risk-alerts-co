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E35A4B"/>
                </a:solidFill>
                <a:latin typeface="Calibri"/>
              </a:defRPr>
            </a:pPr>
            <a:r>
              <a:t>CONCURSO DATOS AL ECOSISTEMA 2026 · IA PARA COLOMBIA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Calibri"/>
              </a:defRPr>
            </a:pPr>
            <a:r>
              <a:t>ContratIA Abierta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900" b="0" i="0">
                <a:solidFill>
                  <a:srgbClr val="EEF2F8"/>
                </a:solidFill>
                <a:latin typeface="Calibri"/>
              </a:defRPr>
            </a:pPr>
            <a:r>
              <a:t>Sistema de ingeniería de datos para priorizar la revisión humana de la contratación pública en Colombia.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1">
                <a:solidFill>
                  <a:srgbClr val="F5EAD2"/>
                </a:solidFill>
                <a:latin typeface="Calibri"/>
              </a:defRPr>
            </a:pPr>
            <a:r>
              <a:t>No detectamos corrupción. Ordenamos qué revisar primero, con evidencia trazable.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109728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75688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90.431 procesos reales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4617720"/>
            <a:ext cx="2775204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Validado vs control fiscal 2.5×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3036" y="461772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Caso real: Puerto Gaitán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98764" y="4617720"/>
            <a:ext cx="1997964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Embeddings semánticos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Ingeniería de Datos · Universidad del Rosario · Región demo: Meta y Casanare (Orinoquía)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Triage, no detección: la capacidad humana &lt; el volumen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 i="0">
                <a:solidFill>
                  <a:srgbClr val="0B1E33"/>
                </a:solidFill>
                <a:latin typeface="Calibri"/>
              </a:defRPr>
            </a:pPr>
            <a:r>
              <a:t>Colombia publica más de 2 millones de procesos de contratación al año en SECOP. Las oficinas de control interno y veedurías no pueden revisarlos todos. La pregunta operativa real es: ¿qué se revisa primero esta semana?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2600" b="1">
                <a:solidFill>
                  <a:srgbClr val="0B1E33"/>
                </a:solidFill>
                <a:latin typeface="Calibri"/>
              </a:defRPr>
            </a:pPr>
            <a:r>
              <a:t>&gt; 2M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50800" cy="210312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procesos/año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publicados en SECOP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0175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2600" b="1">
                <a:solidFill>
                  <a:srgbClr val="0B1E33"/>
                </a:solidFill>
                <a:latin typeface="Calibri"/>
              </a:defRPr>
            </a:pPr>
            <a:r>
              <a:t>Decenas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017520"/>
            <a:ext cx="50800" cy="210312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6118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E35A4B"/>
                </a:solidFill>
                <a:latin typeface="Calibri"/>
              </a:defRPr>
            </a:pPr>
            <a:r>
              <a:t>de revisores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233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capacidad humana limitada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017520"/>
            <a:ext cx="35204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2600" b="1">
                <a:solidFill>
                  <a:srgbClr val="0B1E33"/>
                </a:solidFill>
                <a:latin typeface="Calibri"/>
              </a:defRPr>
            </a:pPr>
            <a:r>
              <a:t>1 decisión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3017520"/>
            <a:ext cx="50800" cy="210312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6118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1F827C"/>
                </a:solidFill>
                <a:latin typeface="Calibri"/>
              </a:defRPr>
            </a:pPr>
            <a:r>
              <a:t>semanal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0233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qué priorizar, con evidencia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332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1">
                <a:solidFill>
                  <a:srgbClr val="0B1E33"/>
                </a:solidFill>
                <a:latin typeface="Calibri"/>
              </a:defRPr>
            </a:pPr>
            <a:r>
              <a:t>ContratIA Abierta convierte un océano de procesos en una cola priorizada y auditable.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LA 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Qué SÍ hace y qué NO hace 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64592" cy="393192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1F827C"/>
                </a:solidFill>
                <a:latin typeface="Calibri"/>
              </a:defRPr>
            </a:pPr>
            <a:r>
              <a:t>SÍ HACE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Ranking 0–100 explicable de procesos a revisar.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2432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Comparables semánticos por categoría + embeddings.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9816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Alineación plan (PAA) vs ejecución (SECOP II).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75304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Razones legibles + confianza de datos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0792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Trazabilidad: fuente, fecha, snapshot, hash.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164592" cy="393192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37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E35A4B"/>
                </a:solidFill>
                <a:latin typeface="Calibri"/>
              </a:defRPr>
            </a:pPr>
            <a:r>
              <a:t>NO HACE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declara corrupción, fraude ni responsabilidad.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2432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reemplaza auditoría jurídica ni fiscal.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99816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deanonimiza más allá del dato público.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75304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usa contexto fiscal como etiqueta del modelo.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50792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reemplaza la decisión humana: la informa.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1">
                <a:solidFill>
                  <a:srgbClr val="103A5C"/>
                </a:solidFill>
                <a:latin typeface="Calibri"/>
              </a:defRPr>
            </a:pPr>
            <a:r>
              <a:t>Un score alto significa “revísalo primero con evidencia”, no “es corrupción”.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USUARIO Y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Para quién es y qué decide cada semana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611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500" b="1">
                <a:solidFill>
                  <a:srgbClr val="0B1E33"/>
                </a:solidFill>
                <a:latin typeface="Calibri"/>
              </a:defRPr>
            </a:pPr>
            <a:r>
              <a:t>Control interno / transparencia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50800" cy="26517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Usuario primario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Decide qué procesos auditar esta semana con capacidad limitada.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611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500" b="1">
                <a:solidFill>
                  <a:srgbClr val="0B1E33"/>
                </a:solidFill>
                <a:latin typeface="Calibri"/>
              </a:defRPr>
            </a:pPr>
            <a:r>
              <a:t>Veeduría ciudadana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737360"/>
            <a:ext cx="50800" cy="265176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3317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Secundario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Prioriza casos con evidencia para denuncia documentada.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37360"/>
            <a:ext cx="36118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500" b="1">
                <a:solidFill>
                  <a:srgbClr val="0B1E33"/>
                </a:solidFill>
                <a:latin typeface="Calibri"/>
              </a:defRPr>
            </a:pPr>
            <a:r>
              <a:t>Periodista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737360"/>
            <a:ext cx="50800" cy="265176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3317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Secundario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69748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Encuentra patrones territoriales con trazabilidad.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54880"/>
            <a:ext cx="10972800" cy="137160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DECISIÓN SEMANAL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9379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 i="0">
                <a:solidFill>
                  <a:srgbClr val="0B1E33"/>
                </a:solidFill>
                <a:latin typeface="Calibri"/>
              </a:defRPr>
            </a:pPr>
            <a:r>
              <a:t>“De los procesos publicados, ¿cuáles 20 revisamos primero y por qué?”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692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1">
                <a:solidFill>
                  <a:srgbClr val="556076"/>
                </a:solidFill>
                <a:latin typeface="Calibri"/>
              </a:defRPr>
            </a:pPr>
            <a:r>
              <a:t>El sistema convierte esa pregunta en una cola priorizada y auditable.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DATOS ABIERTOS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Cuatro datasets oficiales del ecosistema Datos Abiertos Colombia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0800" cy="13716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103A5C"/>
                </a:solidFill>
                <a:latin typeface="Consolas"/>
              </a:defRPr>
            </a:pPr>
            <a:r>
              <a:t>p6dx-8zbt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SECOP II — Procesos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5176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Procesos de contratación (canónico).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0800" cy="137160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1109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1F827C"/>
                </a:solidFill>
                <a:latin typeface="Consolas"/>
              </a:defRPr>
            </a:pPr>
            <a:r>
              <a:t>rpmr-utcd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25856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SECOP Integrado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65176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Histórico de contratos (baseline de valor).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3756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0080" y="3337560"/>
            <a:ext cx="50800" cy="13716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4655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E35A4B"/>
                </a:solidFill>
                <a:latin typeface="Consolas"/>
              </a:defRPr>
            </a:pPr>
            <a:r>
              <a:t>9sue-ezhx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81304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Plan Anual de Adquisiciones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2062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Lo que la entidad planeó comprar.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3756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263640" y="3337560"/>
            <a:ext cx="50800" cy="1371600"/>
          </a:xfrm>
          <a:prstGeom prst="rect">
            <a:avLst/>
          </a:prstGeom>
          <a:solidFill>
            <a:srgbClr val="556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4655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556076"/>
                </a:solidFill>
                <a:latin typeface="Consolas"/>
              </a:defRPr>
            </a:pPr>
            <a:r>
              <a:t>wasc-xi4h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81304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Control fiscal (AGR)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206240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Contexto — NO etiqueta del modelo.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74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600" b="1">
                <a:solidFill>
                  <a:srgbClr val="103A5C"/>
                </a:solidFill>
                <a:latin typeface="Calibri"/>
              </a:defRPr>
            </a:pPr>
            <a:r>
              <a:t>90.431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procesos scoreados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5074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600" b="1">
                <a:solidFill>
                  <a:srgbClr val="103A5C"/>
                </a:solidFill>
                <a:latin typeface="Calibri"/>
              </a:defRPr>
            </a:pPr>
            <a:r>
              <a:t>33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objetos PostgreSQL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074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600" b="1">
                <a:solidFill>
                  <a:srgbClr val="103A5C"/>
                </a:solidFill>
                <a:latin typeface="Calibri"/>
              </a:defRPr>
            </a:pPr>
            <a:r>
              <a:t>4.494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PAA 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5074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600" b="1">
                <a:solidFill>
                  <a:srgbClr val="103A5C"/>
                </a:solidFill>
                <a:latin typeface="Calibri"/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datos abiertos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Una sola lane de ingeniería de datos, de extremo a extremo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5745" y="2194560"/>
            <a:ext cx="585216" cy="585216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5745" y="219456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81654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8165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 i="0">
                <a:solidFill>
                  <a:srgbClr val="103A5C"/>
                </a:solidFill>
                <a:latin typeface="Calibri"/>
              </a:defRPr>
            </a:pPr>
            <a:r>
              <a:t>Socrata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633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50" b="0" i="0">
                <a:solidFill>
                  <a:srgbClr val="556076"/>
                </a:solidFill>
                <a:latin typeface="Calibri"/>
              </a:defRPr>
            </a:pPr>
            <a:r>
              <a:t>SECOP II/Integrado</a:t>
            </a:r>
            <a:br/>
            <a:r>
              <a:t>PAA · AGR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84059" y="2414016"/>
            <a:ext cx="411480" cy="182880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9492" y="2194560"/>
            <a:ext cx="585216" cy="585216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492" y="219456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13827" y="2971800"/>
            <a:ext cx="181654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3827" y="3108960"/>
            <a:ext cx="18165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 i="0">
                <a:solidFill>
                  <a:srgbClr val="103A5C"/>
                </a:solidFill>
                <a:latin typeface="Calibri"/>
              </a:defRPr>
            </a:pPr>
            <a:r>
              <a:t>ETL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5267" y="3657600"/>
            <a:ext cx="1633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50" b="0" i="0">
                <a:solidFill>
                  <a:srgbClr val="556076"/>
                </a:solidFill>
                <a:latin typeface="Calibri"/>
              </a:defRPr>
            </a:pPr>
            <a:r>
              <a:t>Polars + Parquet</a:t>
            </a:r>
            <a:br/>
            <a:r>
              <a:t>join audit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57806" y="2414016"/>
            <a:ext cx="411480" cy="182880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3239" y="2194560"/>
            <a:ext cx="585216" cy="585216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3239" y="219456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7574" y="2971800"/>
            <a:ext cx="181654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7574" y="3108960"/>
            <a:ext cx="18165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 i="0">
                <a:solidFill>
                  <a:srgbClr val="103A5C"/>
                </a:solidFill>
                <a:latin typeface="Calibri"/>
              </a:defRPr>
            </a:pPr>
            <a:r>
              <a:t>PostgreSQL</a:t>
            </a:r>
            <a:br/>
            <a:r>
              <a:t>+ 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9014" y="3657600"/>
            <a:ext cx="1633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50" b="0" i="0">
                <a:solidFill>
                  <a:srgbClr val="556076"/>
                </a:solidFill>
                <a:latin typeface="Calibri"/>
              </a:defRPr>
            </a:pPr>
            <a:r>
              <a:t>33 objetos</a:t>
            </a:r>
            <a:br/>
            <a:r>
              <a:t>+ 5 colecciones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31553" y="2414016"/>
            <a:ext cx="411480" cy="182880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76986" y="2194560"/>
            <a:ext cx="585216" cy="585216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6986" y="219456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61321" y="2971800"/>
            <a:ext cx="181654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321" y="3108960"/>
            <a:ext cx="18165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 i="0">
                <a:solidFill>
                  <a:srgbClr val="103A5C"/>
                </a:solidFill>
                <a:latin typeface="Calibri"/>
              </a:defRPr>
            </a:pPr>
            <a:r>
              <a:t>FastAPI ×3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761" y="3657600"/>
            <a:ext cx="1633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50" b="0" i="0">
                <a:solidFill>
                  <a:srgbClr val="556076"/>
                </a:solidFill>
                <a:latin typeface="Calibri"/>
              </a:defRPr>
            </a:pPr>
            <a:r>
              <a:t>contracts · risk</a:t>
            </a:r>
            <a:br/>
            <a:r>
              <a:t>analytics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5300" y="2414016"/>
            <a:ext cx="411480" cy="182880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50733" y="2194560"/>
            <a:ext cx="585216" cy="585216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50733" y="2194560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5068" y="2971800"/>
            <a:ext cx="1816547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5068" y="3108960"/>
            <a:ext cx="18165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 i="0">
                <a:solidFill>
                  <a:srgbClr val="103A5C"/>
                </a:solidFill>
                <a:latin typeface="Calibri"/>
              </a:defRPr>
            </a:pPr>
            <a:r>
              <a:t>Dash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6508" y="3657600"/>
            <a:ext cx="16336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50" b="0" i="0">
                <a:solidFill>
                  <a:srgbClr val="556076"/>
                </a:solidFill>
                <a:latin typeface="Calibri"/>
              </a:defRPr>
            </a:pPr>
            <a:r>
              <a:t>DECIDIR · ENTENDER</a:t>
            </a:r>
            <a:br/>
            <a:r>
              <a:t>CONFIAR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12080"/>
            <a:ext cx="10972800" cy="10058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303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Reproducible end-to-end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5778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PostgreSQL es la fuente de verdad relacional; MongoDB guarda evidencia documental y eventos. Stack: Python 3.11 · uv · Polars · FastAPI · Dash · Docker Compose.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MODELO RELACIONAL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PostgreSQL como fuente de verdad: 33 objetos públicos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315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7830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GARANTÍAS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1488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03A5C"/>
                </a:solidFill>
                <a:latin typeface="Calibri"/>
              </a:defRPr>
            </a:pPr>
            <a:r>
              <a:t>PK / FK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148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56076"/>
                </a:solidFill>
                <a:latin typeface="Calibri"/>
              </a:defRPr>
            </a:pPr>
            <a:r>
              <a:t>integridad referencial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606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03A5C"/>
                </a:solidFill>
                <a:latin typeface="Calibri"/>
              </a:defRPr>
            </a:pPr>
            <a:r>
              <a:t>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606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56076"/>
                </a:solidFill>
                <a:latin typeface="Calibri"/>
              </a:defRPr>
            </a:pPr>
            <a:r>
              <a:t>score 0–100, conf 0–1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63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03A5C"/>
                </a:solidFill>
                <a:latin typeface="Calibri"/>
              </a:defRPr>
            </a:pPr>
            <a:r>
              <a:t>Índices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063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56076"/>
                </a:solidFill>
                <a:latin typeface="Calibri"/>
              </a:defRPr>
            </a:pPr>
            <a:r>
              <a:t>consulta analítica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204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03A5C"/>
                </a:solidFill>
                <a:latin typeface="Calibri"/>
              </a:defRPr>
            </a:pPr>
            <a:r>
              <a:t>Vistas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520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56076"/>
                </a:solidFill>
                <a:latin typeface="Calibri"/>
              </a:defRPr>
            </a:pPr>
            <a:r>
              <a:t>ranking + PAA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776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03A5C"/>
                </a:solidFill>
                <a:latin typeface="Calibri"/>
              </a:defRPr>
            </a:pPr>
            <a:r>
              <a:t>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9776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0">
                <a:solidFill>
                  <a:srgbClr val="556076"/>
                </a:solidFill>
                <a:latin typeface="Calibri"/>
              </a:defRPr>
            </a:pPr>
            <a:r>
              <a:t>auditoría + historial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1">
                <a:solidFill>
                  <a:srgbClr val="0B1E33"/>
                </a:solidFill>
                <a:latin typeface="Calibri"/>
              </a:defRPr>
            </a:pPr>
            <a:r>
              <a:t>27 tablas + vistas + triggers = 33 objetos. Diseño normalizado con auditoría incorporada.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SQL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Lo que un evaluador técnico espera 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400" b="1">
                <a:solidFill>
                  <a:srgbClr val="0B1E33"/>
                </a:solidFill>
                <a:latin typeface="Calibri"/>
              </a:defRPr>
            </a:pPr>
            <a:r>
              <a:t>Triggers</a:t>
            </a:r>
          </a:p>
          <a:p>
            <a:pPr>
              <a:spcBef>
                <a:spcPts val="300"/>
              </a:spcBef>
              <a:defRPr sz="1100">
                <a:solidFill>
                  <a:srgbClr val="556076"/>
                </a:solidFill>
                <a:latin typeface="Calibri"/>
              </a:defRPr>
            </a:pPr>
            <a:r>
              <a:t>audit_log · historial de estados · updated_at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0800" cy="9144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400" b="1">
                <a:solidFill>
                  <a:srgbClr val="0B1E33"/>
                </a:solidFill>
                <a:latin typeface="Calibri"/>
              </a:defRPr>
            </a:pPr>
            <a:r>
              <a:t>Window functions</a:t>
            </a:r>
          </a:p>
          <a:p>
            <a:pPr>
              <a:spcBef>
                <a:spcPts val="300"/>
              </a:spcBef>
              <a:defRPr sz="1100">
                <a:solidFill>
                  <a:srgbClr val="556076"/>
                </a:solidFill>
                <a:latin typeface="Calibri"/>
              </a:defRPr>
            </a:pPr>
            <a:r>
              <a:t>concentración por entidad · outliers · percent_rank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0800" cy="9144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400" b="1">
                <a:solidFill>
                  <a:srgbClr val="0B1E33"/>
                </a:solidFill>
                <a:latin typeface="Calibri"/>
              </a:defRPr>
            </a:pPr>
            <a:r>
              <a:t>CTE recursiva</a:t>
            </a:r>
          </a:p>
          <a:p>
            <a:pPr>
              <a:spcBef>
                <a:spcPts val="300"/>
              </a:spcBef>
              <a:defRPr sz="1100">
                <a:solidFill>
                  <a:srgbClr val="556076"/>
                </a:solidFill>
                <a:latin typeface="Calibri"/>
              </a:defRPr>
            </a:pPr>
            <a:r>
              <a:t>jerarquía territorial departamento → municipio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50800" cy="9144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834640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400" b="1">
                <a:solidFill>
                  <a:srgbClr val="0B1E33"/>
                </a:solidFill>
                <a:latin typeface="Calibri"/>
              </a:defRPr>
            </a:pPr>
            <a:r>
              <a:t>Transacciones</a:t>
            </a:r>
          </a:p>
          <a:p>
            <a:pPr>
              <a:spcBef>
                <a:spcPts val="300"/>
              </a:spcBef>
              <a:defRPr sz="1100">
                <a:solidFill>
                  <a:srgbClr val="556076"/>
                </a:solidFill>
                <a:latin typeface="Calibri"/>
              </a:defRPr>
            </a:pPr>
            <a:r>
              <a:t>score + evento de auditoría atómico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34640"/>
            <a:ext cx="50800" cy="9144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10972800" cy="182880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79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DDE5F0"/>
                </a:solidFill>
                <a:latin typeface="Consolas"/>
              </a:defRPr>
            </a:pPr>
            <a:r>
              <a:t>-- Window: percentil global del score (usado en el ranking)</a:t>
            </a:r>
          </a:p>
          <a:p>
            <a:pPr>
              <a:spcAft>
                <a:spcPts val="200"/>
              </a:spcAft>
              <a:defRPr sz="1100">
                <a:solidFill>
                  <a:srgbClr val="DDE5F0"/>
                </a:solidFill>
                <a:latin typeface="Consolas"/>
              </a:defRPr>
            </a:pPr>
            <a:r>
              <a:t>SELECT process_id, priority_score,</a:t>
            </a:r>
          </a:p>
          <a:p>
            <a:pPr>
              <a:spcAft>
                <a:spcPts val="200"/>
              </a:spcAft>
              <a:defRPr sz="1100">
                <a:solidFill>
                  <a:srgbClr val="DDE5F0"/>
                </a:solidFill>
                <a:latin typeface="Consolas"/>
              </a:defRPr>
            </a:pPr>
            <a:r>
              <a:t>  round(100*percent_rank() OVER (ORDER BY priority_score),2)</a:t>
            </a:r>
          </a:p>
          <a:p>
            <a:pPr>
              <a:spcAft>
                <a:spcPts val="200"/>
              </a:spcAft>
              <a:defRPr sz="1100">
                <a:solidFill>
                  <a:srgbClr val="DDE5F0"/>
                </a:solidFill>
                <a:latin typeface="Consolas"/>
              </a:defRPr>
            </a:pPr>
            <a:r>
              <a:t>    AS score_percentile</a:t>
            </a:r>
          </a:p>
          <a:p>
            <a:pPr>
              <a:spcAft>
                <a:spcPts val="200"/>
              </a:spcAft>
              <a:defRPr sz="1100">
                <a:solidFill>
                  <a:srgbClr val="DDE5F0"/>
                </a:solidFill>
                <a:latin typeface="Consolas"/>
              </a:defRPr>
            </a:pPr>
            <a:r>
              <a:t>FROM v_ranking_processes;   -- 'top 0.5%' en vez de '85/100'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SCORE EXPLICABLE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Cuatro componentes auditables → un número 0–100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  <a:r>
              <a:t>Anomalía · 45%</a:t>
            </a:r>
          </a:p>
          <a:p>
            <a:pPr>
              <a:spcBef>
                <a:spcPts val="300"/>
              </a:spcBef>
              <a:defRPr sz="1000">
                <a:solidFill>
                  <a:srgbClr val="556076"/>
                </a:solidFill>
                <a:latin typeface="Calibri"/>
              </a:defRPr>
            </a:pPr>
            <a:r>
              <a:t>IsolationForest sobre features numéricas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0800" cy="17373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  <a:r>
              <a:t>Pares · 35%</a:t>
            </a:r>
          </a:p>
          <a:p>
            <a:pPr>
              <a:spcBef>
                <a:spcPts val="300"/>
              </a:spcBef>
              <a:defRPr sz="1000">
                <a:solidFill>
                  <a:srgbClr val="556076"/>
                </a:solidFill>
                <a:latin typeface="Calibri"/>
              </a:defRPr>
            </a:pPr>
            <a:r>
              <a:t>Desviación vs procesos comparables UNSPSC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737360"/>
            <a:ext cx="50800" cy="173736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  <a:r>
              <a:t>Reglas · 20%</a:t>
            </a:r>
          </a:p>
          <a:p>
            <a:pPr>
              <a:spcBef>
                <a:spcPts val="300"/>
              </a:spcBef>
              <a:defRPr sz="1000">
                <a:solidFill>
                  <a:srgbClr val="556076"/>
                </a:solidFill>
                <a:latin typeface="Calibri"/>
              </a:defRPr>
            </a:pPr>
            <a:r>
              <a:t>Thresholds verificables (valor, plazo, PAA)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0800" cy="173736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173736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  <a:r>
              <a:t>Confianza</a:t>
            </a:r>
          </a:p>
          <a:p>
            <a:pPr>
              <a:spcBef>
                <a:spcPts val="300"/>
              </a:spcBef>
              <a:defRPr sz="1000">
                <a:solidFill>
                  <a:srgbClr val="556076"/>
                </a:solidFill>
                <a:latin typeface="Calibri"/>
              </a:defRPr>
            </a:pPr>
            <a:r>
              <a:t>0–1 según cobertura de datos (aparte)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737360"/>
            <a:ext cx="50800" cy="1737360"/>
          </a:xfrm>
          <a:prstGeom prst="rect">
            <a:avLst/>
          </a:prstGeom>
          <a:solidFill>
            <a:srgbClr val="556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972800" cy="86868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DDE5F0"/>
                </a:solidFill>
                <a:latin typeface="Consolas"/>
              </a:defRPr>
            </a:pPr>
            <a:r>
              <a:t>score = round(100 · σ(0.45·anomalía + 0.35·pares + 0.20·reglas))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00600"/>
            <a:ext cx="10972800" cy="12801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19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INTERPRETACIÓN: percentil, no nota absoluta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El score se normaliza por cuantiles del dataset. Un score de 91 = “top 0.02% más atípico de 90.431”, no “91% corrupto”. Distribución de triage: mediana 7, p95 ≈ 45, solo 0.5% supera 70.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IA SEMÁNTICA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Embeddings multilingües funcionando (no humo)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0B1E33"/>
                </a:solidFill>
                <a:latin typeface="Calibri"/>
              </a:defRPr>
            </a:pPr>
            <a:r>
              <a:t>El matching plan↔ejecución y los comparables usan un proveedor semántico configurable. Por defecto: embeddings neuronales MiniLM multilingüe; fallback robusto a TF-IDF si no hay modelo. Ambos comparten la misma abstracción.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  <a:r>
              <a:t>SentenceTransformer (default)</a:t>
            </a:r>
          </a:p>
          <a:p>
            <a:pPr>
              <a:spcBef>
                <a:spcPts val="300"/>
              </a:spcBef>
              <a:defRPr sz="1100">
                <a:solidFill>
                  <a:srgbClr val="556076"/>
                </a:solidFill>
                <a:latin typeface="Calibri"/>
              </a:defRPr>
            </a:pPr>
            <a:r>
              <a:t>paraphrase-multilingual-MiniLM-L12-v2</a:t>
            </a:r>
            <a:br/>
            <a:r>
              <a:t>Carga en ~11s · offline · sin API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0800" cy="155448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300" b="1">
                <a:solidFill>
                  <a:srgbClr val="0B1E33"/>
                </a:solidFill>
                <a:latin typeface="Calibri"/>
              </a:defRPr>
            </a:pPr>
            <a:r>
              <a:t>TF-IDF (fallback)</a:t>
            </a:r>
          </a:p>
          <a:p>
            <a:pPr>
              <a:spcBef>
                <a:spcPts val="300"/>
              </a:spcBef>
              <a:defRPr sz="1100">
                <a:solidFill>
                  <a:srgbClr val="556076"/>
                </a:solidFill>
                <a:latin typeface="Calibri"/>
              </a:defRPr>
            </a:pPr>
            <a:r>
              <a:t>scikit-learn · cero dependencias pesadas</a:t>
            </a:r>
            <a:br/>
            <a:r>
              <a:t>Garantiza que la demo nunca se cae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50800" cy="155448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572000"/>
            <a:ext cx="10972800" cy="1508760"/>
          </a:xfrm>
          <a:prstGeom prst="rect">
            <a:avLst/>
          </a:prstGeom>
          <a:solidFill>
            <a:srgbClr val="0B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PRUEBA DE DISCRIMINACIÓN SEMÁNTICA (medida en vivo)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onsolas"/>
              </a:defRPr>
            </a:pPr>
            <a:r>
              <a:t>sim(“acueducto”, “alcantarillado”) = 0.611      sim(“acueducto”, “papelería”) = 0.136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1">
                <a:solidFill>
                  <a:srgbClr val="EEF2F8"/>
                </a:solidFill>
                <a:latin typeface="Calibri"/>
              </a:defRPr>
            </a:pPr>
            <a:r>
              <a:t>El modelo entiende significado: agrupa contratos de agua y separa los no relacionados.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VALIDACIÓN INDEPENDIENTE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¿El score se concentra donde el control fiscal ya miró?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0B1E33"/>
                </a:solidFill>
                <a:latin typeface="Calibri"/>
              </a:defRPr>
            </a:pPr>
            <a:r>
              <a:t>Prueba ciega: cruzamos las entidades que la Auditoría General (AGR, wasc-xi4h) puso bajo vigilancia fiscal contra nuestro score. El modelo nunca vio esa etiqueta.</a:t>
            </a:r>
          </a:p>
        </p:txBody>
      </p:sp>
      <p:pic>
        <p:nvPicPr>
          <p:cNvPr id="8" name="Picture 7" descr="zona_confi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6766560" cy="410863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2514600"/>
            <a:ext cx="3931920" cy="10058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3000" b="1">
                <a:solidFill>
                  <a:srgbClr val="E35A4B"/>
                </a:solidFill>
                <a:latin typeface="Calibri"/>
              </a:defRPr>
            </a:pPr>
            <a:r>
              <a:t>2.46×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enriquecimiento en tasa de alta prioridad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6576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600" b="1">
                <a:solidFill>
                  <a:srgbClr val="E35A4B"/>
                </a:solidFill>
                <a:latin typeface="Calibri"/>
              </a:defRPr>
            </a:pPr>
            <a:r>
              <a:t>19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mediana — vigilada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36576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600" b="1">
                <a:solidFill>
                  <a:srgbClr val="103A5C"/>
                </a:solidFill>
                <a:latin typeface="Calibri"/>
              </a:defRPr>
            </a:pPr>
            <a:r>
              <a:t>7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mediana — resto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54880"/>
            <a:ext cx="3931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1">
                <a:solidFill>
                  <a:srgbClr val="556076"/>
                </a:solidFill>
                <a:latin typeface="Calibri"/>
              </a:defRPr>
            </a:pPr>
            <a:r>
              <a:t>Auditoría AGR ≠ conducta indebida probada: mide selección para revisión fiscal. Que el score enriquezca ese grupo valida el triage, no acusa.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CASO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Puerto Gaitán: el sistema prioriza donde la Contraloría ya halló señal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REGISTRO PÚBLICO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0B1E33"/>
                </a:solidFill>
                <a:latin typeface="Calibri"/>
              </a:defRPr>
            </a:pPr>
            <a:r>
              <a:t>La Contraloría documentó irregularidades vigentes en Puerto Gaitán: contratos de agua/acueducto (hallazgo &gt; $14.700 millones), sistemas fotovoltaicos ($8.901 millones, 2025) y manejo de regalías.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NUESTRO SISTEMA, A CIEGAS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 i="0">
                <a:solidFill>
                  <a:srgbClr val="0B1E33"/>
                </a:solidFill>
                <a:latin typeface="Calibri"/>
              </a:defRPr>
            </a:pPr>
            <a:r>
              <a:t>Marca Puerto Gaitán 3.1× sobre la tasa nacional. Su proceso top priorizado es una construcción de acueducto de $42.408 millones (score 87) — misma entidad y categoría que señaló la Contraloría. No usamos esa información para entrenar.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5212080" cy="10972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3400" b="1">
                <a:solidFill>
                  <a:srgbClr val="E35A4B"/>
                </a:solidFill>
                <a:latin typeface="Calibri"/>
              </a:defRPr>
            </a:pPr>
            <a:r>
              <a:t>3.1×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Puerto Gaitán vs tasa nacional de alta prioridad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EL CONTRAEJEMPLO QUE DA CREDIBILIDAD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Puerto Gaitán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4290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200" b="1" i="0">
                <a:solidFill>
                  <a:srgbClr val="E35A4B"/>
                </a:solidFill>
                <a:latin typeface="Calibri"/>
              </a:defRPr>
            </a:pPr>
            <a:r>
              <a:t>3.1×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13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Departamento del Meta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813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200" b="1" i="0">
                <a:solidFill>
                  <a:srgbClr val="E35A4B"/>
                </a:solidFill>
                <a:latin typeface="Calibri"/>
              </a:defRPr>
            </a:pPr>
            <a:r>
              <a:t>2.9×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970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Gobernación de Casanare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41970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200" b="1" i="0">
                <a:solidFill>
                  <a:srgbClr val="556076"/>
                </a:solidFill>
                <a:latin typeface="Calibri"/>
              </a:defRPr>
            </a:pPr>
            <a:r>
              <a:t>1.0× (promedio)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8114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Alcaldía de Villavicencio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58114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200" b="1" i="0">
                <a:solidFill>
                  <a:srgbClr val="556076"/>
                </a:solidFill>
                <a:latin typeface="Calibri"/>
              </a:defRPr>
            </a:pPr>
            <a:r>
              <a:t>0.7× (debajo)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2064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 i="1">
                <a:solidFill>
                  <a:srgbClr val="556076"/>
                </a:solidFill>
                <a:latin typeface="Calibri"/>
              </a:defRPr>
            </a:pPr>
            <a:r>
              <a:t>Casanare (escándalos de hace 10+ años) puntúa en el promedio: el sistema detecta estructura del proceso actual, no reputación histórica. No es una lista negra.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Tres zonas por el trabajo del usuario, no por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ona_deci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949440" cy="4219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828800"/>
            <a:ext cx="3749039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400" b="1">
                <a:solidFill>
                  <a:srgbClr val="0B1E33"/>
                </a:solidFill>
                <a:latin typeface="Calibri"/>
              </a:defRPr>
            </a:pPr>
            <a:r>
              <a:t>1 · DECIDIR</a:t>
            </a:r>
          </a:p>
          <a:p>
            <a:pPr>
              <a:spcBef>
                <a:spcPts val="300"/>
              </a:spcBef>
              <a:defRPr sz="1050">
                <a:solidFill>
                  <a:srgbClr val="556076"/>
                </a:solidFill>
                <a:latin typeface="Calibri"/>
              </a:defRPr>
            </a:pPr>
            <a:r>
              <a:t>Qué revisar primero. Cola priorizada + filtro territorial + KPIs reales.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828800"/>
            <a:ext cx="50800" cy="132588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3291840"/>
            <a:ext cx="3749039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400" b="1">
                <a:solidFill>
                  <a:srgbClr val="0B1E33"/>
                </a:solidFill>
                <a:latin typeface="Calibri"/>
              </a:defRPr>
            </a:pPr>
            <a:r>
              <a:t>2 · ENTENDER</a:t>
            </a:r>
          </a:p>
          <a:p>
            <a:pPr>
              <a:spcBef>
                <a:spcPts val="300"/>
              </a:spcBef>
              <a:defRPr sz="1050">
                <a:solidFill>
                  <a:srgbClr val="556076"/>
                </a:solidFill>
                <a:latin typeface="Calibri"/>
              </a:defRPr>
            </a:pPr>
            <a:r>
              <a:t>El caso: score desglosado, razones, comparables, PAA, contexto fiscal.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291840"/>
            <a:ext cx="50800" cy="132588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4754880"/>
            <a:ext cx="3749039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14300" bIns="114300"/>
          <a:lstStyle/>
          <a:p>
            <a:pPr algn="ctr">
              <a:defRPr sz="1400" b="1">
                <a:solidFill>
                  <a:srgbClr val="0B1E33"/>
                </a:solidFill>
                <a:latin typeface="Calibri"/>
              </a:defRPr>
            </a:pPr>
            <a:r>
              <a:t>3 · CONFIAR</a:t>
            </a:r>
          </a:p>
          <a:p>
            <a:pPr>
              <a:spcBef>
                <a:spcPts val="300"/>
              </a:spcBef>
              <a:defRPr sz="1050">
                <a:solidFill>
                  <a:srgbClr val="556076"/>
                </a:solidFill>
                <a:latin typeface="Calibri"/>
              </a:defRPr>
            </a:pPr>
            <a:r>
              <a:t>Por qué confiar: validación AGR, distribución, metodología, límites.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754880"/>
            <a:ext cx="50800" cy="132588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EVIDENCIA DE 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Métricas duras de un sistema reproducible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03A5C"/>
                </a:solidFill>
                <a:latin typeface="Calibri"/>
              </a:defRPr>
            </a:pPr>
            <a:r>
              <a:t>90.431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procesos scoreados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7830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F827C"/>
                </a:solidFill>
                <a:latin typeface="Calibri"/>
              </a:defRPr>
            </a:pPr>
            <a:r>
              <a:t>33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objetos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78308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E35A4B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colecciones MongoDB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03A5C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APIs FastAPI · health 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29184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F827C"/>
                </a:solidFill>
                <a:latin typeface="Calibri"/>
              </a:defRPr>
            </a:pPr>
            <a:r>
              <a:t>71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tests pytest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291840"/>
            <a:ext cx="2240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E35A4B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datasets abiertos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7830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VALIDACIÓN CUBIERTA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1488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 i="0">
                <a:solidFill>
                  <a:srgbClr val="0B1E33"/>
                </a:solidFill>
                <a:latin typeface="Calibri"/>
              </a:defRPr>
            </a:pPr>
            <a:r>
              <a:t>✓  Schema integrity (PK/FK/CHECK)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5328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 i="0">
                <a:solidFill>
                  <a:srgbClr val="0B1E33"/>
                </a:solidFill>
                <a:latin typeface="Calibri"/>
              </a:defRPr>
            </a:pPr>
            <a:r>
              <a:t>✓  Join audit + fill 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1693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 i="0">
                <a:solidFill>
                  <a:srgbClr val="0B1E33"/>
                </a:solidFill>
                <a:latin typeface="Calibri"/>
              </a:defRPr>
            </a:pPr>
            <a:r>
              <a:t>✓  Compuerta PAA top-1 ≥ 0.75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3009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 i="0">
                <a:solidFill>
                  <a:srgbClr val="0B1E33"/>
                </a:solidFill>
                <a:latin typeface="Calibri"/>
              </a:defRPr>
            </a:pPr>
            <a:r>
              <a:t>✓  Scoring bounds 0–100 / 0–1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68503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 i="0">
                <a:solidFill>
                  <a:srgbClr val="0B1E33"/>
                </a:solidFill>
                <a:latin typeface="Calibri"/>
              </a:defRPr>
            </a:pPr>
            <a:r>
              <a:t>✓  Enriquecimiento AGR 2.5×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06908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 i="0">
                <a:solidFill>
                  <a:srgbClr val="0B1E33"/>
                </a:solidFill>
                <a:latin typeface="Calibri"/>
              </a:defRPr>
            </a:pPr>
            <a:r>
              <a:t>✓  Caso real Puerto Gaitán 3.1×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LÍMITES HONESTOS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500" b="1" i="0">
                <a:solidFill>
                  <a:srgbClr val="0B1E33"/>
                </a:solidFill>
                <a:latin typeface="Calibri"/>
              </a:defRPr>
            </a:pPr>
            <a:r>
              <a:t>Lo que falta — declarado, no oculto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F827C"/>
                </a:solidFill>
                <a:latin typeface="Calibri"/>
              </a:defRPr>
            </a:pPr>
            <a:r>
              <a:t>LISTO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✓  71 tests · lint estable · validación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✓  90.431 procesos reales (Meta + Casanare)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✓  Embeddings semánticos funcionando + fallback TF-IDF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✓  Validación AGR 2.5× + caso real Puerto Gaitán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E35A4B"/>
                </a:solidFill>
                <a:latin typeface="Calibri"/>
              </a:defRPr>
            </a:pPr>
            <a:r>
              <a:t>PENDIENTE (ROADMAP)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○  Validación humana de 100 casos con dos revisores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○  Benchmark formal embeddings vs TF-IDF (precision@k)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○  Despliegue público read-only (Blueprint listo)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9476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○  Sesiones de usabilidad con 5 usuarios reales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7900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1">
                <a:solidFill>
                  <a:srgbClr val="0B1E33"/>
                </a:solidFill>
                <a:latin typeface="Calibri"/>
              </a:defRPr>
            </a:pPr>
            <a:r>
              <a:t>La rúbrica premia una validación pendiente declarada por encima de una validación inventada.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· Datos al Ecosistema 2026 · Prioriza revisión humana, no acusa.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600" b="1" i="0">
                <a:solidFill>
                  <a:srgbClr val="FFFFFF"/>
                </a:solidFill>
                <a:latin typeface="Calibri"/>
              </a:defRPr>
            </a:pPr>
            <a:r>
              <a:t>ContratIA Abierta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0" i="0">
                <a:solidFill>
                  <a:srgbClr val="EEF2F8"/>
                </a:solidFill>
                <a:latin typeface="Calibri"/>
              </a:defRPr>
            </a:pPr>
            <a:r>
              <a:t>Sin entrenar contra ninguna etiqueta de corrupción, el sistema prioriza 3.1× los contratos de Puerto Gaitán — donde la Contraloría halló irregularidades vigentes.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1">
                <a:solidFill>
                  <a:srgbClr val="F5EAD2"/>
                </a:solidFill>
                <a:latin typeface="Calibri"/>
              </a:defRPr>
            </a:pPr>
            <a:r>
              <a:t>Detecta estructura, no reputación. Prioriza revisión humana con evidencia trazable.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109728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708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Ingeniería de Datos · Universidad del Rosario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28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REPOSITORIO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84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github.com/Thom-320/secop-risk-alerts-co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412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CATEGORÍA · REGIÓN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9729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Gobernanza y Transparencia · Meta y Casanare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