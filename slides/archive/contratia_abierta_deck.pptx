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Transparencia360 / ContratIA Abierta, un sistema full-stack para priorizar revision humana de procesos de contratacion publica colombiana. La tesis es simple: los datos abiertos ya existen, pero revisarlos todos manualmente no es viable. El sistema ordena procesos para decidir que revisar primero y mantiene trazabilidad hacia las fuentes. Desde el inicio dejamos claro el limite: no prueba conductas indebidas, no reemplaza auditoria juridica o fiscal y no acusa a ninguna entidad o proveedor.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no es la ausencia de datos. En Colombia existen fuentes abiertas como SECOP, PAA y otros datasets institucionales. El problema practico es que una veeduria, una oficina de control interno o un periodista de datos no puede revisar miles de procesos con el mismo nivel de detalle. La decision operativa es semanal y concreta: en que procesos invertir tiempo humano primero. Por eso el proyecto no intenta emitir veredictos; intenta transformar volumen y ruido en una cola explicable de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stakeholder esta definido como una organizacion con requerimientos reales: veeduria ciudadana, oficina de transparencia, control interno o periodismo de datos. Todos comparten una restriccion: tienen capacidad limitada y necesitan justificar por que revisan un caso antes que otro. La salida del sistema es un ranking con razones, comparables y confianza. Eso permite discutir una decision de priorizacion, no una acusacion automatica.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guia de clase pedia una solucion de ingenieria de datos, no solo un dashboard. Por eso el proyecto se cerro con PostgreSQL como base relacional principal, MongoDB como soporte documental y de eventos, tres microservicios FastAPI, una interfaz oficial en Dash, ETL reproducible y SQL avanzado. La validacion final reporta 33 tablas publicas, 17.229 procesos en la carga demo, colecciones Mongo con documentos, health checks en 200 y 39 pruebas automatizadas pasando.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fuentes son datasets oficiales abiertos. SECOP II Procesos aporta la unidad analitica principal: el proceso contractual. SECOP Integrado y PAA permiten contexto de ejecucion y planeacion. El dataset de vigilancia o control fiscal se usa como contexto visible, no como determinante de culpabilidad. La demo carga mas de 10.000 registros, concretamente 17.229 procesos, y deja conteos en validation/table_counts.csv para que el profesor pueda verificar el volumen.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separa ingestion, persistencia, servicios y presentacion. Socrata alimenta el ETL. Parquet queda como cache o fallback local. PostgreSQL conserva el modelo normalizado y es la fuente de verdad. MongoDB almacena snapshots, logs y eventos que encajan mejor como documentos. Encima hay servicios FastAPI separados para contratos, prioridad y analitica. Dash consume esos datos y presenta el flujo de demo. Esta separacion permite probar cada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relacional supera el minimo de 15 tablas y llega a 33 tablas en la validacion local. Agrupa ingesta, geografia, entidades, proveedores, procesos, PAA, contexto fiscal, score, razones, comparables, auditoria y revision humana. La parte importante no es solo contar tablas: hay llaves primarias, foraneas, restricciones de score y confianza, indices utiles y vistas analiticas. PostgreSQL se usa para garantizar integridad, no solo como deposito.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no reemplaza a PostgreSQL. Se usa para datos con forma documental o historica: snapshots crudos, logs de ETL, eventos de prioridad, reportes generados y acciones de dashboard. Esto permite conservar evidencia flexible sin deformar el modelo relacional. En la validacion, las colecciones requeridas existen y tienen documentos. La idea es que un auditor pueda reconstruir de donde salio una vista o un reporte sin depender solamente de tablas normalizadas.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solucion incluye piezas concretas del temario. Hay triggers de auditoria que escriben cambios en audit_log, historial de estado para procesos, validacion de score y mantenimiento de updated_at. Las vistas usan window functions para ranking, concentracion proveedor-entidad y outliers por grupo par. Tambien hay CTE recursiva para jerarquia territorial. El archivo de transacciones muestra como registrar score y evento asociado de forma atomica.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score sigue una filosofia rules-first. Combina reglas claras, desviacion frente a procesos pares, componente de anomalia como apoyo y una medida de confianza. Cada evaluacion genera razones auditables. Si la calidad de datos es baja, la confianza baja. Si hay comparables cercanos, se muestran como referencia. Lo clave es que el score ordena revision humana; no determina responsabilidad, no sanciona y no sustituye criterio experto.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demo empieza en Panorama con conteos, cobertura y distribucion por departamento. Luego pasa a Ranking, donde se filtra por score y se revisan procesos priorizados. Despues entra a Detalle de proceso, que muestra explicacion, entidad, modalidad, score, confianza y comparables. El flujo esperado para el usuario es: primero entender el universo, segundo escoger un candidato, tercero revisar evidencia y cuarto decidir si abre una revision humana.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validacion final cruza los criterios academicos: tablas, filas, Mongo, APIs, tests, docs y README. Quedan limites honestos: los datos abiertos pueden ser ruidosos, los joins entre fuentes no son perfectos y la herramienta requiere revision humana. El siguiente paso humano es aplicar la encuesta real con 5 usuarios, incorporar retroalimentacion y, si hay stakeholder disponible, ejecutar un piloto controlado. El aporte del proyecto es convertir datos masivos en una cola trazable de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75DA8"/>
          </a:solidFill>
          <a:ln w="12700">
            <a:solidFill>
              <a:srgbClr val="275DA8"/>
            </a:solidFill>
            <a:prstDash val="solid"/>
          </a:ln>
        </p:spPr>
      </p:sp>
      <p:sp>
        <p:nvSpPr>
          <p:cNvPr id="3" name="Text 1"/>
          <p:cNvSpPr/>
          <p:nvPr/>
        </p:nvSpPr>
        <p:spPr>
          <a:xfrm>
            <a:off x="685800" y="804672"/>
            <a:ext cx="10789920" cy="530352"/>
          </a:xfrm>
          <a:prstGeom prst="rect">
            <a:avLst/>
          </a:prstGeom>
          <a:noFill/>
          <a:ln/>
        </p:spPr>
        <p:txBody>
          <a:bodyPr wrap="square" lIns="254" tIns="254" rIns="254" bIns="254" rtlCol="0" anchor="ctr">
            <a:normAutofit/>
          </a:bodyPr>
          <a:lstStyle/>
          <a:p>
            <a:pPr algn="l" indent="0" marL="0">
              <a:buNone/>
            </a:pPr>
            <a:r>
              <a:rPr lang="en-US" sz="2900" b="1" dirty="0">
                <a:solidFill>
                  <a:srgbClr val="263241"/>
                </a:solidFill>
                <a:latin typeface="Aptos" pitchFamily="34" charset="0"/>
                <a:ea typeface="Aptos" pitchFamily="34" charset="-122"/>
                <a:cs typeface="Aptos" pitchFamily="34" charset="-120"/>
              </a:rPr>
              <a:t>Transparencia360 / ContratIA Abierta</a:t>
            </a:r>
            <a:endParaRPr lang="en-US" sz="2900" dirty="0"/>
          </a:p>
        </p:txBody>
      </p:sp>
      <p:sp>
        <p:nvSpPr>
          <p:cNvPr id="4" name="Text 2"/>
          <p:cNvSpPr/>
          <p:nvPr/>
        </p:nvSpPr>
        <p:spPr>
          <a:xfrm>
            <a:off x="713232" y="1627632"/>
            <a:ext cx="7955280" cy="384048"/>
          </a:xfrm>
          <a:prstGeom prst="rect">
            <a:avLst/>
          </a:prstGeom>
          <a:noFill/>
          <a:ln/>
        </p:spPr>
        <p:txBody>
          <a:bodyPr wrap="square" lIns="254" tIns="254" rIns="254" bIns="254" rtlCol="0" anchor="ctr">
            <a:normAutofit/>
          </a:bodyPr>
          <a:lstStyle/>
          <a:p>
            <a:pPr algn="l" indent="0" marL="0">
              <a:buNone/>
            </a:pPr>
            <a:r>
              <a:rPr lang="en-US" sz="1700" dirty="0">
                <a:solidFill>
                  <a:srgbClr val="667085"/>
                </a:solidFill>
                <a:latin typeface="Aptos" pitchFamily="34" charset="0"/>
                <a:ea typeface="Aptos" pitchFamily="34" charset="-122"/>
                <a:cs typeface="Aptos" pitchFamily="34" charset="-120"/>
              </a:rPr>
              <a:t>Sistema Poliglota de Priorizacion de Revision Contractual en Colombia</a:t>
            </a:r>
            <a:endParaRPr lang="en-US" sz="1700" dirty="0"/>
          </a:p>
        </p:txBody>
      </p:sp>
      <p:sp>
        <p:nvSpPr>
          <p:cNvPr id="5" name="Text 3"/>
          <p:cNvSpPr/>
          <p:nvPr/>
        </p:nvSpPr>
        <p:spPr>
          <a:xfrm>
            <a:off x="713232" y="2514600"/>
            <a:ext cx="6035040" cy="411480"/>
          </a:xfrm>
          <a:prstGeom prst="rect">
            <a:avLst/>
          </a:prstGeom>
          <a:noFill/>
          <a:ln/>
        </p:spPr>
        <p:txBody>
          <a:bodyPr wrap="square" lIns="254" tIns="254" rIns="254" bIns="254" rtlCol="0" anchor="ctr">
            <a:normAutofit/>
          </a:bodyPr>
          <a:lstStyle/>
          <a:p>
            <a:pPr algn="l" indent="0" marL="0">
              <a:buNone/>
            </a:pPr>
            <a:r>
              <a:rPr lang="en-US" sz="2300" b="1" dirty="0">
                <a:solidFill>
                  <a:srgbClr val="153E75"/>
                </a:solidFill>
                <a:latin typeface="Aptos" pitchFamily="34" charset="0"/>
                <a:ea typeface="Aptos" pitchFamily="34" charset="-122"/>
                <a:cs typeface="Aptos" pitchFamily="34" charset="-120"/>
              </a:rPr>
              <a:t>Ordenar miles de procesos SECOP para decidir que revisar primero.</a:t>
            </a:r>
            <a:endParaRPr lang="en-US" sz="2300" dirty="0"/>
          </a:p>
        </p:txBody>
      </p:sp>
      <p:sp>
        <p:nvSpPr>
          <p:cNvPr id="6" name="Shape 4"/>
          <p:cNvSpPr/>
          <p:nvPr/>
        </p:nvSpPr>
        <p:spPr>
          <a:xfrm>
            <a:off x="713232" y="3273552"/>
            <a:ext cx="1508760" cy="310896"/>
          </a:xfrm>
          <a:prstGeom prst="roundRect">
            <a:avLst>
              <a:gd name="adj" fmla="val 17647"/>
            </a:avLst>
          </a:prstGeom>
          <a:solidFill>
            <a:srgbClr val="EAF1FB"/>
          </a:solidFill>
          <a:ln w="12700">
            <a:solidFill>
              <a:srgbClr val="EAF1FB"/>
            </a:solidFill>
            <a:prstDash val="solid"/>
          </a:ln>
        </p:spPr>
      </p:sp>
      <p:sp>
        <p:nvSpPr>
          <p:cNvPr id="7" name="Text 5"/>
          <p:cNvSpPr/>
          <p:nvPr/>
        </p:nvSpPr>
        <p:spPr>
          <a:xfrm>
            <a:off x="822960" y="3337560"/>
            <a:ext cx="1289304" cy="155448"/>
          </a:xfrm>
          <a:prstGeom prst="rect">
            <a:avLst/>
          </a:prstGeom>
          <a:noFill/>
          <a:ln/>
        </p:spPr>
        <p:txBody>
          <a:bodyPr wrap="square" lIns="254" tIns="254" rIns="254" bIns="254" rtlCol="0" anchor="ctr">
            <a:normAutofit/>
          </a:bodyPr>
          <a:lstStyle/>
          <a:p>
            <a:pPr algn="ctr" indent="0" marL="0">
              <a:buNone/>
            </a:pPr>
            <a:r>
              <a:rPr lang="en-US" sz="800" b="1" dirty="0">
                <a:solidFill>
                  <a:srgbClr val="153E75"/>
                </a:solidFill>
                <a:latin typeface="Aptos" pitchFamily="34" charset="0"/>
                <a:ea typeface="Aptos" pitchFamily="34" charset="-122"/>
                <a:cs typeface="Aptos" pitchFamily="34" charset="-120"/>
              </a:rPr>
              <a:t>Revision humana</a:t>
            </a:r>
            <a:endParaRPr lang="en-US" sz="800" dirty="0"/>
          </a:p>
        </p:txBody>
      </p:sp>
      <p:sp>
        <p:nvSpPr>
          <p:cNvPr id="8" name="Shape 6"/>
          <p:cNvSpPr/>
          <p:nvPr/>
        </p:nvSpPr>
        <p:spPr>
          <a:xfrm>
            <a:off x="2395728" y="3273552"/>
            <a:ext cx="1417320" cy="310896"/>
          </a:xfrm>
          <a:prstGeom prst="roundRect">
            <a:avLst>
              <a:gd name="adj" fmla="val 17647"/>
            </a:avLst>
          </a:prstGeom>
          <a:solidFill>
            <a:srgbClr val="EAF1FB"/>
          </a:solidFill>
          <a:ln w="12700">
            <a:solidFill>
              <a:srgbClr val="EAF1FB"/>
            </a:solidFill>
            <a:prstDash val="solid"/>
          </a:ln>
        </p:spPr>
      </p:sp>
      <p:sp>
        <p:nvSpPr>
          <p:cNvPr id="9" name="Text 7"/>
          <p:cNvSpPr/>
          <p:nvPr/>
        </p:nvSpPr>
        <p:spPr>
          <a:xfrm>
            <a:off x="2505456" y="3337560"/>
            <a:ext cx="1197864" cy="155448"/>
          </a:xfrm>
          <a:prstGeom prst="rect">
            <a:avLst/>
          </a:prstGeom>
          <a:noFill/>
          <a:ln/>
        </p:spPr>
        <p:txBody>
          <a:bodyPr wrap="square" lIns="254" tIns="254" rIns="254" bIns="254" rtlCol="0" anchor="ctr">
            <a:normAutofit/>
          </a:bodyPr>
          <a:lstStyle/>
          <a:p>
            <a:pPr algn="ctr" indent="0" marL="0">
              <a:buNone/>
            </a:pPr>
            <a:r>
              <a:rPr lang="en-US" sz="800" b="1" dirty="0">
                <a:solidFill>
                  <a:srgbClr val="153E75"/>
                </a:solidFill>
                <a:latin typeface="Aptos" pitchFamily="34" charset="0"/>
                <a:ea typeface="Aptos" pitchFamily="34" charset="-122"/>
                <a:cs typeface="Aptos" pitchFamily="34" charset="-120"/>
              </a:rPr>
              <a:t>Datos abiertos</a:t>
            </a:r>
            <a:endParaRPr lang="en-US" sz="800" dirty="0"/>
          </a:p>
        </p:txBody>
      </p:sp>
      <p:sp>
        <p:nvSpPr>
          <p:cNvPr id="10" name="Shape 8"/>
          <p:cNvSpPr/>
          <p:nvPr/>
        </p:nvSpPr>
        <p:spPr>
          <a:xfrm>
            <a:off x="3977640" y="3273552"/>
            <a:ext cx="1234440" cy="310896"/>
          </a:xfrm>
          <a:prstGeom prst="roundRect">
            <a:avLst>
              <a:gd name="adj" fmla="val 17647"/>
            </a:avLst>
          </a:prstGeom>
          <a:solidFill>
            <a:srgbClr val="EAF1FB"/>
          </a:solidFill>
          <a:ln w="12700">
            <a:solidFill>
              <a:srgbClr val="EAF1FB"/>
            </a:solidFill>
            <a:prstDash val="solid"/>
          </a:ln>
        </p:spPr>
      </p:sp>
      <p:sp>
        <p:nvSpPr>
          <p:cNvPr id="11" name="Text 9"/>
          <p:cNvSpPr/>
          <p:nvPr/>
        </p:nvSpPr>
        <p:spPr>
          <a:xfrm>
            <a:off x="4087368" y="3337560"/>
            <a:ext cx="1014984" cy="155448"/>
          </a:xfrm>
          <a:prstGeom prst="rect">
            <a:avLst/>
          </a:prstGeom>
          <a:noFill/>
          <a:ln/>
        </p:spPr>
        <p:txBody>
          <a:bodyPr wrap="square" lIns="254" tIns="254" rIns="254" bIns="254" rtlCol="0" anchor="ctr">
            <a:normAutofit/>
          </a:bodyPr>
          <a:lstStyle/>
          <a:p>
            <a:pPr algn="ctr" indent="0" marL="0">
              <a:buNone/>
            </a:pPr>
            <a:r>
              <a:rPr lang="en-US" sz="800" b="1" dirty="0">
                <a:solidFill>
                  <a:srgbClr val="153E75"/>
                </a:solidFill>
                <a:latin typeface="Aptos" pitchFamily="34" charset="0"/>
                <a:ea typeface="Aptos" pitchFamily="34" charset="-122"/>
                <a:cs typeface="Aptos" pitchFamily="34" charset="-120"/>
              </a:rPr>
              <a:t>Trazabilidad</a:t>
            </a:r>
            <a:endParaRPr lang="en-US" sz="800" dirty="0"/>
          </a:p>
        </p:txBody>
      </p:sp>
      <p:pic>
        <p:nvPicPr>
          <p:cNvPr id="12" name="Image 0" descr="/Users/thom/Desktop/IA colombia/secop-risk-alerts-co/slides/assets/architecture.png">    </p:cNvPr>
          <p:cNvPicPr>
            <a:picLocks noChangeAspect="1"/>
          </p:cNvPicPr>
          <p:nvPr/>
        </p:nvPicPr>
        <p:blipFill>
          <a:blip r:embed="rId1"/>
          <a:stretch>
            <a:fillRect/>
          </a:stretch>
        </p:blipFill>
        <p:spPr>
          <a:xfrm>
            <a:off x="7315200" y="1874520"/>
            <a:ext cx="4206240" cy="2368296"/>
          </a:xfrm>
          <a:prstGeom prst="rect">
            <a:avLst/>
          </a:prstGeom>
        </p:spPr>
      </p:pic>
      <p:sp>
        <p:nvSpPr>
          <p:cNvPr id="13" name="Text 10"/>
          <p:cNvSpPr/>
          <p:nvPr/>
        </p:nvSpPr>
        <p:spPr>
          <a:xfrm>
            <a:off x="713232" y="5989320"/>
            <a:ext cx="5303520" cy="201168"/>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Ingenieria de Datos - Universidad del Rosario</a:t>
            </a:r>
            <a:endParaRPr lang="en-US" sz="1000" dirty="0"/>
          </a:p>
        </p:txBody>
      </p:sp>
      <p:sp>
        <p:nvSpPr>
          <p:cNvPr id="14" name="Text 11"/>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02</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Problema: volumen sin atencion suficiente</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sp>
        <p:nvSpPr>
          <p:cNvPr id="6" name="Text 4"/>
          <p:cNvSpPr/>
          <p:nvPr/>
        </p:nvSpPr>
        <p:spPr>
          <a:xfrm>
            <a:off x="685800" y="1691640"/>
            <a:ext cx="3200400" cy="365760"/>
          </a:xfrm>
          <a:prstGeom prst="rect">
            <a:avLst/>
          </a:prstGeom>
          <a:noFill/>
          <a:ln/>
        </p:spPr>
        <p:txBody>
          <a:bodyPr wrap="square" lIns="254" tIns="254" rIns="254" bIns="254" rtlCol="0" anchor="ctr">
            <a:normAutofit/>
          </a:bodyPr>
          <a:lstStyle/>
          <a:p>
            <a:pPr algn="l" indent="0" marL="0">
              <a:buNone/>
            </a:pPr>
            <a:r>
              <a:rPr lang="en-US" sz="2200" b="1" dirty="0">
                <a:solidFill>
                  <a:srgbClr val="263241"/>
                </a:solidFill>
                <a:latin typeface="Aptos" pitchFamily="34" charset="0"/>
                <a:ea typeface="Aptos" pitchFamily="34" charset="-122"/>
                <a:cs typeface="Aptos" pitchFamily="34" charset="-120"/>
              </a:rPr>
              <a:t>No faltan datos de contratacion.</a:t>
            </a:r>
            <a:endParaRPr lang="en-US" sz="2200" dirty="0"/>
          </a:p>
        </p:txBody>
      </p:sp>
      <p:sp>
        <p:nvSpPr>
          <p:cNvPr id="7" name="Text 5"/>
          <p:cNvSpPr/>
          <p:nvPr/>
        </p:nvSpPr>
        <p:spPr>
          <a:xfrm>
            <a:off x="685800" y="2212848"/>
            <a:ext cx="4023360" cy="621792"/>
          </a:xfrm>
          <a:prstGeom prst="rect">
            <a:avLst/>
          </a:prstGeom>
          <a:noFill/>
          <a:ln/>
        </p:spPr>
        <p:txBody>
          <a:bodyPr wrap="square" lIns="254" tIns="254" rIns="254" bIns="254" rtlCol="0" anchor="ctr">
            <a:normAutofit/>
          </a:bodyPr>
          <a:lstStyle/>
          <a:p>
            <a:pPr algn="l" indent="0" marL="0">
              <a:buNone/>
            </a:pPr>
            <a:r>
              <a:rPr lang="en-US" sz="1600" dirty="0">
                <a:solidFill>
                  <a:srgbClr val="667085"/>
                </a:solidFill>
                <a:latin typeface="Aptos" pitchFamily="34" charset="0"/>
                <a:ea typeface="Aptos" pitchFamily="34" charset="-122"/>
                <a:cs typeface="Aptos" pitchFamily="34" charset="-120"/>
              </a:rPr>
              <a:t>Falta capacidad humana para revisarlos con prioridad, evidencia y trazabilidad.</a:t>
            </a:r>
            <a:endParaRPr lang="en-US" sz="1600" dirty="0"/>
          </a:p>
        </p:txBody>
      </p:sp>
      <p:sp>
        <p:nvSpPr>
          <p:cNvPr id="8" name="Shape 6"/>
          <p:cNvSpPr/>
          <p:nvPr/>
        </p:nvSpPr>
        <p:spPr>
          <a:xfrm>
            <a:off x="5577840" y="2029968"/>
            <a:ext cx="1627632" cy="1143000"/>
          </a:xfrm>
          <a:prstGeom prst="roundRect">
            <a:avLst>
              <a:gd name="adj" fmla="val 8000"/>
            </a:avLst>
          </a:prstGeom>
          <a:solidFill>
            <a:srgbClr val="FFFFFF"/>
          </a:solidFill>
          <a:ln w="12700">
            <a:solidFill>
              <a:srgbClr val="D9DEE8"/>
            </a:solidFill>
            <a:prstDash val="solid"/>
          </a:ln>
        </p:spPr>
      </p:sp>
      <p:sp>
        <p:nvSpPr>
          <p:cNvPr id="9" name="Text 7"/>
          <p:cNvSpPr/>
          <p:nvPr/>
        </p:nvSpPr>
        <p:spPr>
          <a:xfrm>
            <a:off x="5715000" y="2267712"/>
            <a:ext cx="1353312" cy="201168"/>
          </a:xfrm>
          <a:prstGeom prst="rect">
            <a:avLst/>
          </a:prstGeom>
          <a:noFill/>
          <a:ln/>
        </p:spPr>
        <p:txBody>
          <a:bodyPr wrap="square" lIns="254" tIns="254" rIns="254" bIns="254" rtlCol="0" anchor="ctr">
            <a:normAutofit/>
          </a:bodyPr>
          <a:lstStyle/>
          <a:p>
            <a:pPr algn="ctr" indent="0" marL="0">
              <a:buNone/>
            </a:pPr>
            <a:r>
              <a:rPr lang="en-US" sz="1000" b="1" dirty="0">
                <a:solidFill>
                  <a:srgbClr val="263241"/>
                </a:solidFill>
                <a:latin typeface="Aptos" pitchFamily="34" charset="0"/>
                <a:ea typeface="Aptos" pitchFamily="34" charset="-122"/>
                <a:cs typeface="Aptos" pitchFamily="34" charset="-120"/>
              </a:rPr>
              <a:t>Miles de procesos</a:t>
            </a:r>
            <a:endParaRPr lang="en-US" sz="1000" dirty="0"/>
          </a:p>
        </p:txBody>
      </p:sp>
      <p:sp>
        <p:nvSpPr>
          <p:cNvPr id="10" name="Text 8"/>
          <p:cNvSpPr/>
          <p:nvPr/>
        </p:nvSpPr>
        <p:spPr>
          <a:xfrm>
            <a:off x="5715000" y="2587752"/>
            <a:ext cx="1353312" cy="256032"/>
          </a:xfrm>
          <a:prstGeom prst="rect">
            <a:avLst/>
          </a:prstGeom>
          <a:noFill/>
          <a:ln/>
        </p:spPr>
        <p:txBody>
          <a:bodyPr wrap="square" lIns="254" tIns="254" rIns="254" bIns="254" rtlCol="0" anchor="ctr">
            <a:normAutofit/>
          </a:bodyPr>
          <a:lstStyle/>
          <a:p>
            <a:pPr algn="ctr" indent="0" marL="0">
              <a:buNone/>
            </a:pPr>
            <a:r>
              <a:rPr lang="en-US" sz="750" dirty="0">
                <a:solidFill>
                  <a:srgbClr val="667085"/>
                </a:solidFill>
                <a:latin typeface="Aptos" pitchFamily="34" charset="0"/>
                <a:ea typeface="Aptos" pitchFamily="34" charset="-122"/>
                <a:cs typeface="Aptos" pitchFamily="34" charset="-120"/>
              </a:rPr>
              <a:t>SECOP / PAA / contexto</a:t>
            </a:r>
            <a:endParaRPr lang="en-US" sz="750" dirty="0"/>
          </a:p>
        </p:txBody>
      </p:sp>
      <p:sp>
        <p:nvSpPr>
          <p:cNvPr id="11" name="Shape 9"/>
          <p:cNvSpPr/>
          <p:nvPr/>
        </p:nvSpPr>
        <p:spPr>
          <a:xfrm>
            <a:off x="7287768" y="2404872"/>
            <a:ext cx="329184" cy="384048"/>
          </a:xfrm>
          <a:prstGeom prst="chevron">
            <a:avLst/>
          </a:prstGeom>
          <a:solidFill>
            <a:srgbClr val="275DA8"/>
          </a:solidFill>
          <a:ln w="12700">
            <a:solidFill>
              <a:srgbClr val="275DA8"/>
            </a:solidFill>
            <a:prstDash val="solid"/>
          </a:ln>
        </p:spPr>
      </p:sp>
      <p:sp>
        <p:nvSpPr>
          <p:cNvPr id="12" name="Shape 10"/>
          <p:cNvSpPr/>
          <p:nvPr/>
        </p:nvSpPr>
        <p:spPr>
          <a:xfrm>
            <a:off x="7635240" y="2029968"/>
            <a:ext cx="1627632" cy="1143000"/>
          </a:xfrm>
          <a:prstGeom prst="roundRect">
            <a:avLst>
              <a:gd name="adj" fmla="val 8000"/>
            </a:avLst>
          </a:prstGeom>
          <a:solidFill>
            <a:srgbClr val="EAF1FB"/>
          </a:solidFill>
          <a:ln w="12700">
            <a:solidFill>
              <a:srgbClr val="275DA8"/>
            </a:solidFill>
            <a:prstDash val="solid"/>
          </a:ln>
        </p:spPr>
      </p:sp>
      <p:sp>
        <p:nvSpPr>
          <p:cNvPr id="13" name="Text 11"/>
          <p:cNvSpPr/>
          <p:nvPr/>
        </p:nvSpPr>
        <p:spPr>
          <a:xfrm>
            <a:off x="7772400" y="2267712"/>
            <a:ext cx="1353312" cy="201168"/>
          </a:xfrm>
          <a:prstGeom prst="rect">
            <a:avLst/>
          </a:prstGeom>
          <a:noFill/>
          <a:ln/>
        </p:spPr>
        <p:txBody>
          <a:bodyPr wrap="square" lIns="254" tIns="254" rIns="254" bIns="254" rtlCol="0" anchor="ctr">
            <a:normAutofit/>
          </a:bodyPr>
          <a:lstStyle/>
          <a:p>
            <a:pPr algn="ctr" indent="0" marL="0">
              <a:buNone/>
            </a:pPr>
            <a:r>
              <a:rPr lang="en-US" sz="1000" b="1" dirty="0">
                <a:solidFill>
                  <a:srgbClr val="263241"/>
                </a:solidFill>
                <a:latin typeface="Aptos" pitchFamily="34" charset="0"/>
                <a:ea typeface="Aptos" pitchFamily="34" charset="-122"/>
                <a:cs typeface="Aptos" pitchFamily="34" charset="-120"/>
              </a:rPr>
              <a:t>Ranking explicable</a:t>
            </a:r>
            <a:endParaRPr lang="en-US" sz="1000" dirty="0"/>
          </a:p>
        </p:txBody>
      </p:sp>
      <p:sp>
        <p:nvSpPr>
          <p:cNvPr id="14" name="Text 12"/>
          <p:cNvSpPr/>
          <p:nvPr/>
        </p:nvSpPr>
        <p:spPr>
          <a:xfrm>
            <a:off x="7772400" y="2587752"/>
            <a:ext cx="1353312" cy="256032"/>
          </a:xfrm>
          <a:prstGeom prst="rect">
            <a:avLst/>
          </a:prstGeom>
          <a:noFill/>
          <a:ln/>
        </p:spPr>
        <p:txBody>
          <a:bodyPr wrap="square" lIns="254" tIns="254" rIns="254" bIns="254" rtlCol="0" anchor="ctr">
            <a:normAutofit/>
          </a:bodyPr>
          <a:lstStyle/>
          <a:p>
            <a:pPr algn="ctr" indent="0" marL="0">
              <a:buNone/>
            </a:pPr>
            <a:r>
              <a:rPr lang="en-US" sz="750" dirty="0">
                <a:solidFill>
                  <a:srgbClr val="667085"/>
                </a:solidFill>
                <a:latin typeface="Aptos" pitchFamily="34" charset="0"/>
                <a:ea typeface="Aptos" pitchFamily="34" charset="-122"/>
                <a:cs typeface="Aptos" pitchFamily="34" charset="-120"/>
              </a:rPr>
              <a:t>score + confianza + razones</a:t>
            </a:r>
            <a:endParaRPr lang="en-US" sz="750" dirty="0"/>
          </a:p>
        </p:txBody>
      </p:sp>
      <p:sp>
        <p:nvSpPr>
          <p:cNvPr id="15" name="Shape 13"/>
          <p:cNvSpPr/>
          <p:nvPr/>
        </p:nvSpPr>
        <p:spPr>
          <a:xfrm>
            <a:off x="9345168" y="2404872"/>
            <a:ext cx="329184" cy="384048"/>
          </a:xfrm>
          <a:prstGeom prst="chevron">
            <a:avLst/>
          </a:prstGeom>
          <a:solidFill>
            <a:srgbClr val="275DA8"/>
          </a:solidFill>
          <a:ln w="12700">
            <a:solidFill>
              <a:srgbClr val="275DA8"/>
            </a:solidFill>
            <a:prstDash val="solid"/>
          </a:ln>
        </p:spPr>
      </p:sp>
      <p:sp>
        <p:nvSpPr>
          <p:cNvPr id="16" name="Shape 14"/>
          <p:cNvSpPr/>
          <p:nvPr/>
        </p:nvSpPr>
        <p:spPr>
          <a:xfrm>
            <a:off x="9692640" y="2029968"/>
            <a:ext cx="1627632" cy="1143000"/>
          </a:xfrm>
          <a:prstGeom prst="roundRect">
            <a:avLst>
              <a:gd name="adj" fmla="val 8000"/>
            </a:avLst>
          </a:prstGeom>
          <a:solidFill>
            <a:srgbClr val="FFFFFF"/>
          </a:solidFill>
          <a:ln w="12700">
            <a:solidFill>
              <a:srgbClr val="D9DEE8"/>
            </a:solidFill>
            <a:prstDash val="solid"/>
          </a:ln>
        </p:spPr>
      </p:sp>
      <p:sp>
        <p:nvSpPr>
          <p:cNvPr id="17" name="Text 15"/>
          <p:cNvSpPr/>
          <p:nvPr/>
        </p:nvSpPr>
        <p:spPr>
          <a:xfrm>
            <a:off x="9829800" y="2267712"/>
            <a:ext cx="1353312" cy="201168"/>
          </a:xfrm>
          <a:prstGeom prst="rect">
            <a:avLst/>
          </a:prstGeom>
          <a:noFill/>
          <a:ln/>
        </p:spPr>
        <p:txBody>
          <a:bodyPr wrap="square" lIns="254" tIns="254" rIns="254" bIns="254" rtlCol="0" anchor="ctr">
            <a:normAutofit/>
          </a:bodyPr>
          <a:lstStyle/>
          <a:p>
            <a:pPr algn="ctr" indent="0" marL="0">
              <a:buNone/>
            </a:pPr>
            <a:r>
              <a:rPr lang="en-US" sz="1000" b="1" dirty="0">
                <a:solidFill>
                  <a:srgbClr val="263241"/>
                </a:solidFill>
                <a:latin typeface="Aptos" pitchFamily="34" charset="0"/>
                <a:ea typeface="Aptos" pitchFamily="34" charset="-122"/>
                <a:cs typeface="Aptos" pitchFamily="34" charset="-120"/>
              </a:rPr>
              <a:t>Revision humana</a:t>
            </a:r>
            <a:endParaRPr lang="en-US" sz="1000" dirty="0"/>
          </a:p>
        </p:txBody>
      </p:sp>
      <p:sp>
        <p:nvSpPr>
          <p:cNvPr id="18" name="Text 16"/>
          <p:cNvSpPr/>
          <p:nvPr/>
        </p:nvSpPr>
        <p:spPr>
          <a:xfrm>
            <a:off x="9829800" y="2587752"/>
            <a:ext cx="1353312" cy="256032"/>
          </a:xfrm>
          <a:prstGeom prst="rect">
            <a:avLst/>
          </a:prstGeom>
          <a:noFill/>
          <a:ln/>
        </p:spPr>
        <p:txBody>
          <a:bodyPr wrap="square" lIns="254" tIns="254" rIns="254" bIns="254" rtlCol="0" anchor="ctr">
            <a:normAutofit/>
          </a:bodyPr>
          <a:lstStyle/>
          <a:p>
            <a:pPr algn="ctr" indent="0" marL="0">
              <a:buNone/>
            </a:pPr>
            <a:r>
              <a:rPr lang="en-US" sz="750" dirty="0">
                <a:solidFill>
                  <a:srgbClr val="667085"/>
                </a:solidFill>
                <a:latin typeface="Aptos" pitchFamily="34" charset="0"/>
                <a:ea typeface="Aptos" pitchFamily="34" charset="-122"/>
                <a:cs typeface="Aptos" pitchFamily="34" charset="-120"/>
              </a:rPr>
              <a:t>decision documentada</a:t>
            </a:r>
            <a:endParaRPr lang="en-US" sz="750" dirty="0"/>
          </a:p>
        </p:txBody>
      </p:sp>
      <p:sp>
        <p:nvSpPr>
          <p:cNvPr id="19" name="Text 17"/>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03</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Stakeholder y decision</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sp>
        <p:nvSpPr>
          <p:cNvPr id="6" name="Shape 4"/>
          <p:cNvSpPr/>
          <p:nvPr/>
        </p:nvSpPr>
        <p:spPr>
          <a:xfrm>
            <a:off x="731520" y="1828800"/>
            <a:ext cx="3063240" cy="1325880"/>
          </a:xfrm>
          <a:prstGeom prst="roundRect">
            <a:avLst>
              <a:gd name="adj" fmla="val 5517"/>
            </a:avLst>
          </a:prstGeom>
          <a:solidFill>
            <a:srgbClr val="FFFFFF"/>
          </a:solidFill>
          <a:ln w="12700">
            <a:solidFill>
              <a:srgbClr val="D9DEE8"/>
            </a:solidFill>
            <a:prstDash val="solid"/>
          </a:ln>
        </p:spPr>
      </p:sp>
      <p:sp>
        <p:nvSpPr>
          <p:cNvPr id="7" name="Text 5"/>
          <p:cNvSpPr/>
          <p:nvPr/>
        </p:nvSpPr>
        <p:spPr>
          <a:xfrm>
            <a:off x="932688" y="2084832"/>
            <a:ext cx="2651760" cy="237744"/>
          </a:xfrm>
          <a:prstGeom prst="rect">
            <a:avLst/>
          </a:prstGeom>
          <a:noFill/>
          <a:ln/>
        </p:spPr>
        <p:txBody>
          <a:bodyPr wrap="square" lIns="254" tIns="254" rIns="254" bIns="254" rtlCol="0" anchor="ctr">
            <a:normAutofit/>
          </a:bodyPr>
          <a:lstStyle/>
          <a:p>
            <a:pPr algn="l" indent="0" marL="0">
              <a:buNone/>
            </a:pPr>
            <a:r>
              <a:rPr lang="en-US" sz="1500" b="1" dirty="0">
                <a:solidFill>
                  <a:srgbClr val="153E75"/>
                </a:solidFill>
                <a:latin typeface="Aptos" pitchFamily="34" charset="0"/>
                <a:ea typeface="Aptos" pitchFamily="34" charset="-122"/>
                <a:cs typeface="Aptos" pitchFamily="34" charset="-120"/>
              </a:rPr>
              <a:t>Veeduria ciudadana</a:t>
            </a:r>
            <a:endParaRPr lang="en-US" sz="1500" dirty="0"/>
          </a:p>
        </p:txBody>
      </p:sp>
      <p:sp>
        <p:nvSpPr>
          <p:cNvPr id="8" name="Text 6"/>
          <p:cNvSpPr/>
          <p:nvPr/>
        </p:nvSpPr>
        <p:spPr>
          <a:xfrm>
            <a:off x="932688" y="2523744"/>
            <a:ext cx="2514600" cy="256032"/>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seguimiento al gasto publico</a:t>
            </a:r>
            <a:endParaRPr lang="en-US" sz="1000" dirty="0"/>
          </a:p>
        </p:txBody>
      </p:sp>
      <p:sp>
        <p:nvSpPr>
          <p:cNvPr id="9" name="Shape 7"/>
          <p:cNvSpPr/>
          <p:nvPr/>
        </p:nvSpPr>
        <p:spPr>
          <a:xfrm>
            <a:off x="4389120" y="1828800"/>
            <a:ext cx="3063240" cy="1325880"/>
          </a:xfrm>
          <a:prstGeom prst="roundRect">
            <a:avLst>
              <a:gd name="adj" fmla="val 5517"/>
            </a:avLst>
          </a:prstGeom>
          <a:solidFill>
            <a:srgbClr val="FFFFFF"/>
          </a:solidFill>
          <a:ln w="12700">
            <a:solidFill>
              <a:srgbClr val="D9DEE8"/>
            </a:solidFill>
            <a:prstDash val="solid"/>
          </a:ln>
        </p:spPr>
      </p:sp>
      <p:sp>
        <p:nvSpPr>
          <p:cNvPr id="10" name="Text 8"/>
          <p:cNvSpPr/>
          <p:nvPr/>
        </p:nvSpPr>
        <p:spPr>
          <a:xfrm>
            <a:off x="4590288" y="2084832"/>
            <a:ext cx="2651760" cy="237744"/>
          </a:xfrm>
          <a:prstGeom prst="rect">
            <a:avLst/>
          </a:prstGeom>
          <a:noFill/>
          <a:ln/>
        </p:spPr>
        <p:txBody>
          <a:bodyPr wrap="square" lIns="254" tIns="254" rIns="254" bIns="254" rtlCol="0" anchor="ctr">
            <a:normAutofit/>
          </a:bodyPr>
          <a:lstStyle/>
          <a:p>
            <a:pPr algn="l" indent="0" marL="0">
              <a:buNone/>
            </a:pPr>
            <a:r>
              <a:rPr lang="en-US" sz="1500" b="1" dirty="0">
                <a:solidFill>
                  <a:srgbClr val="153E75"/>
                </a:solidFill>
                <a:latin typeface="Aptos" pitchFamily="34" charset="0"/>
                <a:ea typeface="Aptos" pitchFamily="34" charset="-122"/>
                <a:cs typeface="Aptos" pitchFamily="34" charset="-120"/>
              </a:rPr>
              <a:t>Control interno</a:t>
            </a:r>
            <a:endParaRPr lang="en-US" sz="1500" dirty="0"/>
          </a:p>
        </p:txBody>
      </p:sp>
      <p:sp>
        <p:nvSpPr>
          <p:cNvPr id="11" name="Text 9"/>
          <p:cNvSpPr/>
          <p:nvPr/>
        </p:nvSpPr>
        <p:spPr>
          <a:xfrm>
            <a:off x="4590288" y="2523744"/>
            <a:ext cx="2514600" cy="256032"/>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focalizar revision institucional</a:t>
            </a:r>
            <a:endParaRPr lang="en-US" sz="1000" dirty="0"/>
          </a:p>
        </p:txBody>
      </p:sp>
      <p:sp>
        <p:nvSpPr>
          <p:cNvPr id="12" name="Shape 10"/>
          <p:cNvSpPr/>
          <p:nvPr/>
        </p:nvSpPr>
        <p:spPr>
          <a:xfrm>
            <a:off x="8046720" y="1828800"/>
            <a:ext cx="3063240" cy="1325880"/>
          </a:xfrm>
          <a:prstGeom prst="roundRect">
            <a:avLst>
              <a:gd name="adj" fmla="val 5517"/>
            </a:avLst>
          </a:prstGeom>
          <a:solidFill>
            <a:srgbClr val="FFFFFF"/>
          </a:solidFill>
          <a:ln w="12700">
            <a:solidFill>
              <a:srgbClr val="D9DEE8"/>
            </a:solidFill>
            <a:prstDash val="solid"/>
          </a:ln>
        </p:spPr>
      </p:sp>
      <p:sp>
        <p:nvSpPr>
          <p:cNvPr id="13" name="Text 11"/>
          <p:cNvSpPr/>
          <p:nvPr/>
        </p:nvSpPr>
        <p:spPr>
          <a:xfrm>
            <a:off x="8247888" y="2084832"/>
            <a:ext cx="2651760" cy="237744"/>
          </a:xfrm>
          <a:prstGeom prst="rect">
            <a:avLst/>
          </a:prstGeom>
          <a:noFill/>
          <a:ln/>
        </p:spPr>
        <p:txBody>
          <a:bodyPr wrap="square" lIns="254" tIns="254" rIns="254" bIns="254" rtlCol="0" anchor="ctr">
            <a:normAutofit/>
          </a:bodyPr>
          <a:lstStyle/>
          <a:p>
            <a:pPr algn="l" indent="0" marL="0">
              <a:buNone/>
            </a:pPr>
            <a:r>
              <a:rPr lang="en-US" sz="1500" b="1" dirty="0">
                <a:solidFill>
                  <a:srgbClr val="153E75"/>
                </a:solidFill>
                <a:latin typeface="Aptos" pitchFamily="34" charset="0"/>
                <a:ea typeface="Aptos" pitchFamily="34" charset="-122"/>
                <a:cs typeface="Aptos" pitchFamily="34" charset="-120"/>
              </a:rPr>
              <a:t>Periodista de datos</a:t>
            </a:r>
            <a:endParaRPr lang="en-US" sz="1500" dirty="0"/>
          </a:p>
        </p:txBody>
      </p:sp>
      <p:sp>
        <p:nvSpPr>
          <p:cNvPr id="14" name="Text 12"/>
          <p:cNvSpPr/>
          <p:nvPr/>
        </p:nvSpPr>
        <p:spPr>
          <a:xfrm>
            <a:off x="8247888" y="2523744"/>
            <a:ext cx="2514600" cy="256032"/>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priorizar investigacion verificable</a:t>
            </a:r>
            <a:endParaRPr lang="en-US" sz="1000" dirty="0"/>
          </a:p>
        </p:txBody>
      </p:sp>
      <p:sp>
        <p:nvSpPr>
          <p:cNvPr id="15" name="Text 13"/>
          <p:cNvSpPr/>
          <p:nvPr/>
        </p:nvSpPr>
        <p:spPr>
          <a:xfrm>
            <a:off x="731520" y="3931920"/>
            <a:ext cx="2194560" cy="274320"/>
          </a:xfrm>
          <a:prstGeom prst="rect">
            <a:avLst/>
          </a:prstGeom>
          <a:noFill/>
          <a:ln/>
        </p:spPr>
        <p:txBody>
          <a:bodyPr wrap="square" lIns="254" tIns="254" rIns="254" bIns="254" rtlCol="0" anchor="ctr">
            <a:normAutofit/>
          </a:bodyPr>
          <a:lstStyle/>
          <a:p>
            <a:pPr algn="l" indent="0" marL="0">
              <a:buNone/>
            </a:pPr>
            <a:r>
              <a:rPr lang="en-US" sz="1800" b="1" dirty="0">
                <a:solidFill>
                  <a:srgbClr val="263241"/>
                </a:solidFill>
                <a:latin typeface="Aptos" pitchFamily="34" charset="0"/>
                <a:ea typeface="Aptos" pitchFamily="34" charset="-122"/>
                <a:cs typeface="Aptos" pitchFamily="34" charset="-120"/>
              </a:rPr>
              <a:t>Decision semanal</a:t>
            </a:r>
            <a:endParaRPr lang="en-US" sz="1800" dirty="0"/>
          </a:p>
        </p:txBody>
      </p:sp>
      <p:sp>
        <p:nvSpPr>
          <p:cNvPr id="16" name="Text 14"/>
          <p:cNvSpPr/>
          <p:nvPr/>
        </p:nvSpPr>
        <p:spPr>
          <a:xfrm>
            <a:off x="2834640" y="3895344"/>
            <a:ext cx="6583680" cy="384048"/>
          </a:xfrm>
          <a:prstGeom prst="rect">
            <a:avLst/>
          </a:prstGeom>
          <a:noFill/>
          <a:ln/>
        </p:spPr>
        <p:txBody>
          <a:bodyPr wrap="square" lIns="254" tIns="254" rIns="254" bIns="254" rtlCol="0" anchor="ctr">
            <a:normAutofit/>
          </a:bodyPr>
          <a:lstStyle/>
          <a:p>
            <a:pPr algn="l" indent="0" marL="0">
              <a:buNone/>
            </a:pPr>
            <a:r>
              <a:rPr lang="en-US" sz="1900" b="1" dirty="0">
                <a:solidFill>
                  <a:srgbClr val="153E75"/>
                </a:solidFill>
                <a:latin typeface="Aptos" pitchFamily="34" charset="0"/>
                <a:ea typeface="Aptos" pitchFamily="34" charset="-122"/>
                <a:cs typeface="Aptos" pitchFamily="34" charset="-120"/>
              </a:rPr>
              <a:t>Que procesos revisar primero, con que razones y con que confianza.</a:t>
            </a:r>
            <a:endParaRPr lang="en-US" sz="1900" dirty="0"/>
          </a:p>
        </p:txBody>
      </p:sp>
      <p:sp>
        <p:nvSpPr>
          <p:cNvPr id="17" name="Text 15"/>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04</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Mapa de requisitos del curso</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sp>
        <p:nvSpPr>
          <p:cNvPr id="6" name="Shape 4"/>
          <p:cNvSpPr/>
          <p:nvPr/>
        </p:nvSpPr>
        <p:spPr>
          <a:xfrm>
            <a:off x="777240" y="1783080"/>
            <a:ext cx="2331720" cy="841248"/>
          </a:xfrm>
          <a:prstGeom prst="roundRect">
            <a:avLst>
              <a:gd name="adj" fmla="val 8696"/>
            </a:avLst>
          </a:prstGeom>
          <a:solidFill>
            <a:srgbClr val="FFFFFF"/>
          </a:solidFill>
          <a:ln w="12700">
            <a:solidFill>
              <a:srgbClr val="D9DEE8"/>
            </a:solidFill>
            <a:prstDash val="solid"/>
          </a:ln>
        </p:spPr>
      </p:sp>
      <p:sp>
        <p:nvSpPr>
          <p:cNvPr id="7" name="Text 5"/>
          <p:cNvSpPr/>
          <p:nvPr/>
        </p:nvSpPr>
        <p:spPr>
          <a:xfrm>
            <a:off x="932688" y="1920240"/>
            <a:ext cx="1965960" cy="182880"/>
          </a:xfrm>
          <a:prstGeom prst="rect">
            <a:avLst/>
          </a:prstGeom>
          <a:noFill/>
          <a:ln/>
        </p:spPr>
        <p:txBody>
          <a:bodyPr wrap="square" lIns="254" tIns="254" rIns="254" bIns="254" rtlCol="0" anchor="ctr">
            <a:normAutofit/>
          </a:bodyPr>
          <a:lstStyle/>
          <a:p>
            <a:pPr algn="l" indent="0" marL="0">
              <a:buNone/>
            </a:pPr>
            <a:r>
              <a:rPr lang="en-US" sz="1200" b="1" dirty="0">
                <a:solidFill>
                  <a:srgbClr val="153E75"/>
                </a:solidFill>
                <a:latin typeface="Aptos" pitchFamily="34" charset="0"/>
                <a:ea typeface="Aptos" pitchFamily="34" charset="-122"/>
                <a:cs typeface="Aptos" pitchFamily="34" charset="-120"/>
              </a:rPr>
              <a:t>PostgreSQL</a:t>
            </a:r>
            <a:endParaRPr lang="en-US" sz="1200" dirty="0"/>
          </a:p>
        </p:txBody>
      </p:sp>
      <p:sp>
        <p:nvSpPr>
          <p:cNvPr id="8" name="Text 6"/>
          <p:cNvSpPr/>
          <p:nvPr/>
        </p:nvSpPr>
        <p:spPr>
          <a:xfrm>
            <a:off x="932688" y="2231136"/>
            <a:ext cx="1965960" cy="164592"/>
          </a:xfrm>
          <a:prstGeom prst="rect">
            <a:avLst/>
          </a:prstGeom>
          <a:noFill/>
          <a:ln/>
        </p:spPr>
        <p:txBody>
          <a:bodyPr wrap="square" lIns="254" tIns="254" rIns="254" bIns="254" rtlCol="0" anchor="ctr">
            <a:normAutofit/>
          </a:bodyPr>
          <a:lstStyle/>
          <a:p>
            <a:pPr algn="l" indent="0" marL="0">
              <a:buNone/>
            </a:pPr>
            <a:r>
              <a:rPr lang="en-US" sz="850" dirty="0">
                <a:solidFill>
                  <a:srgbClr val="667085"/>
                </a:solidFill>
                <a:latin typeface="Aptos" pitchFamily="34" charset="0"/>
                <a:ea typeface="Aptos" pitchFamily="34" charset="-122"/>
                <a:cs typeface="Aptos" pitchFamily="34" charset="-120"/>
              </a:rPr>
              <a:t>33 tablas publicas</a:t>
            </a:r>
            <a:endParaRPr lang="en-US" sz="850" dirty="0"/>
          </a:p>
        </p:txBody>
      </p:sp>
      <p:sp>
        <p:nvSpPr>
          <p:cNvPr id="9" name="Shape 7"/>
          <p:cNvSpPr/>
          <p:nvPr/>
        </p:nvSpPr>
        <p:spPr>
          <a:xfrm>
            <a:off x="3566160" y="1783080"/>
            <a:ext cx="2331720" cy="841248"/>
          </a:xfrm>
          <a:prstGeom prst="roundRect">
            <a:avLst>
              <a:gd name="adj" fmla="val 8696"/>
            </a:avLst>
          </a:prstGeom>
          <a:solidFill>
            <a:srgbClr val="FFFFFF"/>
          </a:solidFill>
          <a:ln w="12700">
            <a:solidFill>
              <a:srgbClr val="D9DEE8"/>
            </a:solidFill>
            <a:prstDash val="solid"/>
          </a:ln>
        </p:spPr>
      </p:sp>
      <p:sp>
        <p:nvSpPr>
          <p:cNvPr id="10" name="Text 8"/>
          <p:cNvSpPr/>
          <p:nvPr/>
        </p:nvSpPr>
        <p:spPr>
          <a:xfrm>
            <a:off x="3721608" y="1920240"/>
            <a:ext cx="1965960" cy="182880"/>
          </a:xfrm>
          <a:prstGeom prst="rect">
            <a:avLst/>
          </a:prstGeom>
          <a:noFill/>
          <a:ln/>
        </p:spPr>
        <p:txBody>
          <a:bodyPr wrap="square" lIns="254" tIns="254" rIns="254" bIns="254" rtlCol="0" anchor="ctr">
            <a:normAutofit/>
          </a:bodyPr>
          <a:lstStyle/>
          <a:p>
            <a:pPr algn="l" indent="0" marL="0">
              <a:buNone/>
            </a:pPr>
            <a:r>
              <a:rPr lang="en-US" sz="1200" b="1" dirty="0">
                <a:solidFill>
                  <a:srgbClr val="153E75"/>
                </a:solidFill>
                <a:latin typeface="Aptos" pitchFamily="34" charset="0"/>
                <a:ea typeface="Aptos" pitchFamily="34" charset="-122"/>
                <a:cs typeface="Aptos" pitchFamily="34" charset="-120"/>
              </a:rPr>
              <a:t>MongoDB</a:t>
            </a:r>
            <a:endParaRPr lang="en-US" sz="1200" dirty="0"/>
          </a:p>
        </p:txBody>
      </p:sp>
      <p:sp>
        <p:nvSpPr>
          <p:cNvPr id="11" name="Text 9"/>
          <p:cNvSpPr/>
          <p:nvPr/>
        </p:nvSpPr>
        <p:spPr>
          <a:xfrm>
            <a:off x="3721608" y="2231136"/>
            <a:ext cx="1965960" cy="164592"/>
          </a:xfrm>
          <a:prstGeom prst="rect">
            <a:avLst/>
          </a:prstGeom>
          <a:noFill/>
          <a:ln/>
        </p:spPr>
        <p:txBody>
          <a:bodyPr wrap="square" lIns="254" tIns="254" rIns="254" bIns="254" rtlCol="0" anchor="ctr">
            <a:normAutofit/>
          </a:bodyPr>
          <a:lstStyle/>
          <a:p>
            <a:pPr algn="l" indent="0" marL="0">
              <a:buNone/>
            </a:pPr>
            <a:r>
              <a:rPr lang="en-US" sz="850" dirty="0">
                <a:solidFill>
                  <a:srgbClr val="667085"/>
                </a:solidFill>
                <a:latin typeface="Aptos" pitchFamily="34" charset="0"/>
                <a:ea typeface="Aptos" pitchFamily="34" charset="-122"/>
                <a:cs typeface="Aptos" pitchFamily="34" charset="-120"/>
              </a:rPr>
              <a:t>5 colecciones con documentos</a:t>
            </a:r>
            <a:endParaRPr lang="en-US" sz="850" dirty="0"/>
          </a:p>
        </p:txBody>
      </p:sp>
      <p:sp>
        <p:nvSpPr>
          <p:cNvPr id="12" name="Shape 10"/>
          <p:cNvSpPr/>
          <p:nvPr/>
        </p:nvSpPr>
        <p:spPr>
          <a:xfrm>
            <a:off x="6355080" y="1783080"/>
            <a:ext cx="2331720" cy="841248"/>
          </a:xfrm>
          <a:prstGeom prst="roundRect">
            <a:avLst>
              <a:gd name="adj" fmla="val 8696"/>
            </a:avLst>
          </a:prstGeom>
          <a:solidFill>
            <a:srgbClr val="FFFFFF"/>
          </a:solidFill>
          <a:ln w="12700">
            <a:solidFill>
              <a:srgbClr val="D9DEE8"/>
            </a:solidFill>
            <a:prstDash val="solid"/>
          </a:ln>
        </p:spPr>
      </p:sp>
      <p:sp>
        <p:nvSpPr>
          <p:cNvPr id="13" name="Text 11"/>
          <p:cNvSpPr/>
          <p:nvPr/>
        </p:nvSpPr>
        <p:spPr>
          <a:xfrm>
            <a:off x="6510528" y="1920240"/>
            <a:ext cx="1965960" cy="182880"/>
          </a:xfrm>
          <a:prstGeom prst="rect">
            <a:avLst/>
          </a:prstGeom>
          <a:noFill/>
          <a:ln/>
        </p:spPr>
        <p:txBody>
          <a:bodyPr wrap="square" lIns="254" tIns="254" rIns="254" bIns="254" rtlCol="0" anchor="ctr">
            <a:normAutofit/>
          </a:bodyPr>
          <a:lstStyle/>
          <a:p>
            <a:pPr algn="l" indent="0" marL="0">
              <a:buNone/>
            </a:pPr>
            <a:r>
              <a:rPr lang="en-US" sz="1200" b="1" dirty="0">
                <a:solidFill>
                  <a:srgbClr val="153E75"/>
                </a:solidFill>
                <a:latin typeface="Aptos" pitchFamily="34" charset="0"/>
                <a:ea typeface="Aptos" pitchFamily="34" charset="-122"/>
                <a:cs typeface="Aptos" pitchFamily="34" charset="-120"/>
              </a:rPr>
              <a:t>FastAPI</a:t>
            </a:r>
            <a:endParaRPr lang="en-US" sz="1200" dirty="0"/>
          </a:p>
        </p:txBody>
      </p:sp>
      <p:sp>
        <p:nvSpPr>
          <p:cNvPr id="14" name="Text 12"/>
          <p:cNvSpPr/>
          <p:nvPr/>
        </p:nvSpPr>
        <p:spPr>
          <a:xfrm>
            <a:off x="6510528" y="2231136"/>
            <a:ext cx="1965960" cy="164592"/>
          </a:xfrm>
          <a:prstGeom prst="rect">
            <a:avLst/>
          </a:prstGeom>
          <a:noFill/>
          <a:ln/>
        </p:spPr>
        <p:txBody>
          <a:bodyPr wrap="square" lIns="254" tIns="254" rIns="254" bIns="254" rtlCol="0" anchor="ctr">
            <a:normAutofit/>
          </a:bodyPr>
          <a:lstStyle/>
          <a:p>
            <a:pPr algn="l" indent="0" marL="0">
              <a:buNone/>
            </a:pPr>
            <a:r>
              <a:rPr lang="en-US" sz="850" dirty="0">
                <a:solidFill>
                  <a:srgbClr val="667085"/>
                </a:solidFill>
                <a:latin typeface="Aptos" pitchFamily="34" charset="0"/>
                <a:ea typeface="Aptos" pitchFamily="34" charset="-122"/>
                <a:cs typeface="Aptos" pitchFamily="34" charset="-120"/>
              </a:rPr>
              <a:t>3 servicios health 200</a:t>
            </a:r>
            <a:endParaRPr lang="en-US" sz="850" dirty="0"/>
          </a:p>
        </p:txBody>
      </p:sp>
      <p:sp>
        <p:nvSpPr>
          <p:cNvPr id="15" name="Shape 13"/>
          <p:cNvSpPr/>
          <p:nvPr/>
        </p:nvSpPr>
        <p:spPr>
          <a:xfrm>
            <a:off x="9144000" y="1783080"/>
            <a:ext cx="2331720" cy="841248"/>
          </a:xfrm>
          <a:prstGeom prst="roundRect">
            <a:avLst>
              <a:gd name="adj" fmla="val 8696"/>
            </a:avLst>
          </a:prstGeom>
          <a:solidFill>
            <a:srgbClr val="FFFFFF"/>
          </a:solidFill>
          <a:ln w="12700">
            <a:solidFill>
              <a:srgbClr val="D9DEE8"/>
            </a:solidFill>
            <a:prstDash val="solid"/>
          </a:ln>
        </p:spPr>
      </p:sp>
      <p:sp>
        <p:nvSpPr>
          <p:cNvPr id="16" name="Text 14"/>
          <p:cNvSpPr/>
          <p:nvPr/>
        </p:nvSpPr>
        <p:spPr>
          <a:xfrm>
            <a:off x="9299448" y="1920240"/>
            <a:ext cx="1965960" cy="182880"/>
          </a:xfrm>
          <a:prstGeom prst="rect">
            <a:avLst/>
          </a:prstGeom>
          <a:noFill/>
          <a:ln/>
        </p:spPr>
        <p:txBody>
          <a:bodyPr wrap="square" lIns="254" tIns="254" rIns="254" bIns="254" rtlCol="0" anchor="ctr">
            <a:normAutofit/>
          </a:bodyPr>
          <a:lstStyle/>
          <a:p>
            <a:pPr algn="l" indent="0" marL="0">
              <a:buNone/>
            </a:pPr>
            <a:r>
              <a:rPr lang="en-US" sz="1200" b="1" dirty="0">
                <a:solidFill>
                  <a:srgbClr val="153E75"/>
                </a:solidFill>
                <a:latin typeface="Aptos" pitchFamily="34" charset="0"/>
                <a:ea typeface="Aptos" pitchFamily="34" charset="-122"/>
                <a:cs typeface="Aptos" pitchFamily="34" charset="-120"/>
              </a:rPr>
              <a:t>Dash</a:t>
            </a:r>
            <a:endParaRPr lang="en-US" sz="1200" dirty="0"/>
          </a:p>
        </p:txBody>
      </p:sp>
      <p:sp>
        <p:nvSpPr>
          <p:cNvPr id="17" name="Text 15"/>
          <p:cNvSpPr/>
          <p:nvPr/>
        </p:nvSpPr>
        <p:spPr>
          <a:xfrm>
            <a:off x="9299448" y="2231136"/>
            <a:ext cx="1965960" cy="164592"/>
          </a:xfrm>
          <a:prstGeom prst="rect">
            <a:avLst/>
          </a:prstGeom>
          <a:noFill/>
          <a:ln/>
        </p:spPr>
        <p:txBody>
          <a:bodyPr wrap="square" lIns="254" tIns="254" rIns="254" bIns="254" rtlCol="0" anchor="ctr">
            <a:normAutofit/>
          </a:bodyPr>
          <a:lstStyle/>
          <a:p>
            <a:pPr algn="l" indent="0" marL="0">
              <a:buNone/>
            </a:pPr>
            <a:r>
              <a:rPr lang="en-US" sz="850" dirty="0">
                <a:solidFill>
                  <a:srgbClr val="667085"/>
                </a:solidFill>
                <a:latin typeface="Aptos" pitchFamily="34" charset="0"/>
                <a:ea typeface="Aptos" pitchFamily="34" charset="-122"/>
                <a:cs typeface="Aptos" pitchFamily="34" charset="-120"/>
              </a:rPr>
              <a:t>interfaz oficial</a:t>
            </a:r>
            <a:endParaRPr lang="en-US" sz="850" dirty="0"/>
          </a:p>
        </p:txBody>
      </p:sp>
      <p:sp>
        <p:nvSpPr>
          <p:cNvPr id="18" name="Shape 16"/>
          <p:cNvSpPr/>
          <p:nvPr/>
        </p:nvSpPr>
        <p:spPr>
          <a:xfrm>
            <a:off x="777240" y="3108960"/>
            <a:ext cx="2331720" cy="841248"/>
          </a:xfrm>
          <a:prstGeom prst="roundRect">
            <a:avLst>
              <a:gd name="adj" fmla="val 8696"/>
            </a:avLst>
          </a:prstGeom>
          <a:solidFill>
            <a:srgbClr val="FFFFFF"/>
          </a:solidFill>
          <a:ln w="12700">
            <a:solidFill>
              <a:srgbClr val="D9DEE8"/>
            </a:solidFill>
            <a:prstDash val="solid"/>
          </a:ln>
        </p:spPr>
      </p:sp>
      <p:sp>
        <p:nvSpPr>
          <p:cNvPr id="19" name="Text 17"/>
          <p:cNvSpPr/>
          <p:nvPr/>
        </p:nvSpPr>
        <p:spPr>
          <a:xfrm>
            <a:off x="932688" y="3246120"/>
            <a:ext cx="1965960" cy="182880"/>
          </a:xfrm>
          <a:prstGeom prst="rect">
            <a:avLst/>
          </a:prstGeom>
          <a:noFill/>
          <a:ln/>
        </p:spPr>
        <p:txBody>
          <a:bodyPr wrap="square" lIns="254" tIns="254" rIns="254" bIns="254" rtlCol="0" anchor="ctr">
            <a:normAutofit/>
          </a:bodyPr>
          <a:lstStyle/>
          <a:p>
            <a:pPr algn="l" indent="0" marL="0">
              <a:buNone/>
            </a:pPr>
            <a:r>
              <a:rPr lang="en-US" sz="1200" b="1" dirty="0">
                <a:solidFill>
                  <a:srgbClr val="153E75"/>
                </a:solidFill>
                <a:latin typeface="Aptos" pitchFamily="34" charset="0"/>
                <a:ea typeface="Aptos" pitchFamily="34" charset="-122"/>
                <a:cs typeface="Aptos" pitchFamily="34" charset="-120"/>
              </a:rPr>
              <a:t>ETL</a:t>
            </a:r>
            <a:endParaRPr lang="en-US" sz="1200" dirty="0"/>
          </a:p>
        </p:txBody>
      </p:sp>
      <p:sp>
        <p:nvSpPr>
          <p:cNvPr id="20" name="Text 18"/>
          <p:cNvSpPr/>
          <p:nvPr/>
        </p:nvSpPr>
        <p:spPr>
          <a:xfrm>
            <a:off x="932688" y="3557016"/>
            <a:ext cx="1965960" cy="164592"/>
          </a:xfrm>
          <a:prstGeom prst="rect">
            <a:avLst/>
          </a:prstGeom>
          <a:noFill/>
          <a:ln/>
        </p:spPr>
        <p:txBody>
          <a:bodyPr wrap="square" lIns="254" tIns="254" rIns="254" bIns="254" rtlCol="0" anchor="ctr">
            <a:normAutofit/>
          </a:bodyPr>
          <a:lstStyle/>
          <a:p>
            <a:pPr algn="l" indent="0" marL="0">
              <a:buNone/>
            </a:pPr>
            <a:r>
              <a:rPr lang="en-US" sz="850" dirty="0">
                <a:solidFill>
                  <a:srgbClr val="667085"/>
                </a:solidFill>
                <a:latin typeface="Aptos" pitchFamily="34" charset="0"/>
                <a:ea typeface="Aptos" pitchFamily="34" charset="-122"/>
                <a:cs typeface="Aptos" pitchFamily="34" charset="-120"/>
              </a:rPr>
              <a:t>17.229 procesos demo</a:t>
            </a:r>
            <a:endParaRPr lang="en-US" sz="850" dirty="0"/>
          </a:p>
        </p:txBody>
      </p:sp>
      <p:sp>
        <p:nvSpPr>
          <p:cNvPr id="21" name="Shape 19"/>
          <p:cNvSpPr/>
          <p:nvPr/>
        </p:nvSpPr>
        <p:spPr>
          <a:xfrm>
            <a:off x="3566160" y="3108960"/>
            <a:ext cx="2331720" cy="841248"/>
          </a:xfrm>
          <a:prstGeom prst="roundRect">
            <a:avLst>
              <a:gd name="adj" fmla="val 8696"/>
            </a:avLst>
          </a:prstGeom>
          <a:solidFill>
            <a:srgbClr val="FFFFFF"/>
          </a:solidFill>
          <a:ln w="12700">
            <a:solidFill>
              <a:srgbClr val="D9DEE8"/>
            </a:solidFill>
            <a:prstDash val="solid"/>
          </a:ln>
        </p:spPr>
      </p:sp>
      <p:sp>
        <p:nvSpPr>
          <p:cNvPr id="22" name="Text 20"/>
          <p:cNvSpPr/>
          <p:nvPr/>
        </p:nvSpPr>
        <p:spPr>
          <a:xfrm>
            <a:off x="3721608" y="3246120"/>
            <a:ext cx="1965960" cy="182880"/>
          </a:xfrm>
          <a:prstGeom prst="rect">
            <a:avLst/>
          </a:prstGeom>
          <a:noFill/>
          <a:ln/>
        </p:spPr>
        <p:txBody>
          <a:bodyPr wrap="square" lIns="254" tIns="254" rIns="254" bIns="254" rtlCol="0" anchor="ctr">
            <a:normAutofit/>
          </a:bodyPr>
          <a:lstStyle/>
          <a:p>
            <a:pPr algn="l" indent="0" marL="0">
              <a:buNone/>
            </a:pPr>
            <a:r>
              <a:rPr lang="en-US" sz="1200" b="1" dirty="0">
                <a:solidFill>
                  <a:srgbClr val="153E75"/>
                </a:solidFill>
                <a:latin typeface="Aptos" pitchFamily="34" charset="0"/>
                <a:ea typeface="Aptos" pitchFamily="34" charset="-122"/>
                <a:cs typeface="Aptos" pitchFamily="34" charset="-120"/>
              </a:rPr>
              <a:t>SQL avanzado</a:t>
            </a:r>
            <a:endParaRPr lang="en-US" sz="1200" dirty="0"/>
          </a:p>
        </p:txBody>
      </p:sp>
      <p:sp>
        <p:nvSpPr>
          <p:cNvPr id="23" name="Text 21"/>
          <p:cNvSpPr/>
          <p:nvPr/>
        </p:nvSpPr>
        <p:spPr>
          <a:xfrm>
            <a:off x="3721608" y="3557016"/>
            <a:ext cx="1965960" cy="164592"/>
          </a:xfrm>
          <a:prstGeom prst="rect">
            <a:avLst/>
          </a:prstGeom>
          <a:noFill/>
          <a:ln/>
        </p:spPr>
        <p:txBody>
          <a:bodyPr wrap="square" lIns="254" tIns="254" rIns="254" bIns="254" rtlCol="0" anchor="ctr">
            <a:normAutofit/>
          </a:bodyPr>
          <a:lstStyle/>
          <a:p>
            <a:pPr algn="l" indent="0" marL="0">
              <a:buNone/>
            </a:pPr>
            <a:r>
              <a:rPr lang="en-US" sz="850" dirty="0">
                <a:solidFill>
                  <a:srgbClr val="667085"/>
                </a:solidFill>
                <a:latin typeface="Aptos" pitchFamily="34" charset="0"/>
                <a:ea typeface="Aptos" pitchFamily="34" charset="-122"/>
                <a:cs typeface="Aptos" pitchFamily="34" charset="-120"/>
              </a:rPr>
              <a:t>triggers, CTE, windows</a:t>
            </a:r>
            <a:endParaRPr lang="en-US" sz="850" dirty="0"/>
          </a:p>
        </p:txBody>
      </p:sp>
      <p:sp>
        <p:nvSpPr>
          <p:cNvPr id="24" name="Shape 22"/>
          <p:cNvSpPr/>
          <p:nvPr/>
        </p:nvSpPr>
        <p:spPr>
          <a:xfrm>
            <a:off x="6355080" y="3108960"/>
            <a:ext cx="2331720" cy="841248"/>
          </a:xfrm>
          <a:prstGeom prst="roundRect">
            <a:avLst>
              <a:gd name="adj" fmla="val 8696"/>
            </a:avLst>
          </a:prstGeom>
          <a:solidFill>
            <a:srgbClr val="FFFFFF"/>
          </a:solidFill>
          <a:ln w="12700">
            <a:solidFill>
              <a:srgbClr val="D9DEE8"/>
            </a:solidFill>
            <a:prstDash val="solid"/>
          </a:ln>
        </p:spPr>
      </p:sp>
      <p:sp>
        <p:nvSpPr>
          <p:cNvPr id="25" name="Text 23"/>
          <p:cNvSpPr/>
          <p:nvPr/>
        </p:nvSpPr>
        <p:spPr>
          <a:xfrm>
            <a:off x="6510528" y="3246120"/>
            <a:ext cx="1965960" cy="182880"/>
          </a:xfrm>
          <a:prstGeom prst="rect">
            <a:avLst/>
          </a:prstGeom>
          <a:noFill/>
          <a:ln/>
        </p:spPr>
        <p:txBody>
          <a:bodyPr wrap="square" lIns="254" tIns="254" rIns="254" bIns="254" rtlCol="0" anchor="ctr">
            <a:normAutofit/>
          </a:bodyPr>
          <a:lstStyle/>
          <a:p>
            <a:pPr algn="l" indent="0" marL="0">
              <a:buNone/>
            </a:pPr>
            <a:r>
              <a:rPr lang="en-US" sz="1200" b="1" dirty="0">
                <a:solidFill>
                  <a:srgbClr val="153E75"/>
                </a:solidFill>
                <a:latin typeface="Aptos" pitchFamily="34" charset="0"/>
                <a:ea typeface="Aptos" pitchFamily="34" charset="-122"/>
                <a:cs typeface="Aptos" pitchFamily="34" charset="-120"/>
              </a:rPr>
              <a:t>Pruebas</a:t>
            </a:r>
            <a:endParaRPr lang="en-US" sz="1200" dirty="0"/>
          </a:p>
        </p:txBody>
      </p:sp>
      <p:sp>
        <p:nvSpPr>
          <p:cNvPr id="26" name="Text 24"/>
          <p:cNvSpPr/>
          <p:nvPr/>
        </p:nvSpPr>
        <p:spPr>
          <a:xfrm>
            <a:off x="6510528" y="3557016"/>
            <a:ext cx="1965960" cy="164592"/>
          </a:xfrm>
          <a:prstGeom prst="rect">
            <a:avLst/>
          </a:prstGeom>
          <a:noFill/>
          <a:ln/>
        </p:spPr>
        <p:txBody>
          <a:bodyPr wrap="square" lIns="254" tIns="254" rIns="254" bIns="254" rtlCol="0" anchor="ctr">
            <a:normAutofit/>
          </a:bodyPr>
          <a:lstStyle/>
          <a:p>
            <a:pPr algn="l" indent="0" marL="0">
              <a:buNone/>
            </a:pPr>
            <a:r>
              <a:rPr lang="en-US" sz="850" dirty="0">
                <a:solidFill>
                  <a:srgbClr val="667085"/>
                </a:solidFill>
                <a:latin typeface="Aptos" pitchFamily="34" charset="0"/>
                <a:ea typeface="Aptos" pitchFamily="34" charset="-122"/>
                <a:cs typeface="Aptos" pitchFamily="34" charset="-120"/>
              </a:rPr>
              <a:t>39 pytest pasan</a:t>
            </a:r>
            <a:endParaRPr lang="en-US" sz="850" dirty="0"/>
          </a:p>
        </p:txBody>
      </p:sp>
      <p:sp>
        <p:nvSpPr>
          <p:cNvPr id="27" name="Shape 25"/>
          <p:cNvSpPr/>
          <p:nvPr/>
        </p:nvSpPr>
        <p:spPr>
          <a:xfrm>
            <a:off x="9144000" y="3108960"/>
            <a:ext cx="2331720" cy="841248"/>
          </a:xfrm>
          <a:prstGeom prst="roundRect">
            <a:avLst>
              <a:gd name="adj" fmla="val 8696"/>
            </a:avLst>
          </a:prstGeom>
          <a:solidFill>
            <a:srgbClr val="FFFFFF"/>
          </a:solidFill>
          <a:ln w="12700">
            <a:solidFill>
              <a:srgbClr val="D9DEE8"/>
            </a:solidFill>
            <a:prstDash val="solid"/>
          </a:ln>
        </p:spPr>
      </p:sp>
      <p:sp>
        <p:nvSpPr>
          <p:cNvPr id="28" name="Text 26"/>
          <p:cNvSpPr/>
          <p:nvPr/>
        </p:nvSpPr>
        <p:spPr>
          <a:xfrm>
            <a:off x="9299448" y="3246120"/>
            <a:ext cx="1965960" cy="182880"/>
          </a:xfrm>
          <a:prstGeom prst="rect">
            <a:avLst/>
          </a:prstGeom>
          <a:noFill/>
          <a:ln/>
        </p:spPr>
        <p:txBody>
          <a:bodyPr wrap="square" lIns="254" tIns="254" rIns="254" bIns="254" rtlCol="0" anchor="ctr">
            <a:normAutofit/>
          </a:bodyPr>
          <a:lstStyle/>
          <a:p>
            <a:pPr algn="l" indent="0" marL="0">
              <a:buNone/>
            </a:pPr>
            <a:r>
              <a:rPr lang="en-US" sz="1200" b="1" dirty="0">
                <a:solidFill>
                  <a:srgbClr val="153E75"/>
                </a:solidFill>
                <a:latin typeface="Aptos" pitchFamily="34" charset="0"/>
                <a:ea typeface="Aptos" pitchFamily="34" charset="-122"/>
                <a:cs typeface="Aptos" pitchFamily="34" charset="-120"/>
              </a:rPr>
              <a:t>Docs</a:t>
            </a:r>
            <a:endParaRPr lang="en-US" sz="1200" dirty="0"/>
          </a:p>
        </p:txBody>
      </p:sp>
      <p:sp>
        <p:nvSpPr>
          <p:cNvPr id="29" name="Text 27"/>
          <p:cNvSpPr/>
          <p:nvPr/>
        </p:nvSpPr>
        <p:spPr>
          <a:xfrm>
            <a:off x="9299448" y="3557016"/>
            <a:ext cx="1965960" cy="164592"/>
          </a:xfrm>
          <a:prstGeom prst="rect">
            <a:avLst/>
          </a:prstGeom>
          <a:noFill/>
          <a:ln/>
        </p:spPr>
        <p:txBody>
          <a:bodyPr wrap="square" lIns="254" tIns="254" rIns="254" bIns="254" rtlCol="0" anchor="ctr">
            <a:normAutofit/>
          </a:bodyPr>
          <a:lstStyle/>
          <a:p>
            <a:pPr algn="l" indent="0" marL="0">
              <a:buNone/>
            </a:pPr>
            <a:r>
              <a:rPr lang="en-US" sz="850" dirty="0">
                <a:solidFill>
                  <a:srgbClr val="667085"/>
                </a:solidFill>
                <a:latin typeface="Aptos" pitchFamily="34" charset="0"/>
                <a:ea typeface="Aptos" pitchFamily="34" charset="-122"/>
                <a:cs typeface="Aptos" pitchFamily="34" charset="-120"/>
              </a:rPr>
              <a:t>21 archivos requeridos</a:t>
            </a:r>
            <a:endParaRPr lang="en-US" sz="850" dirty="0"/>
          </a:p>
        </p:txBody>
      </p:sp>
      <p:sp>
        <p:nvSpPr>
          <p:cNvPr id="30" name="Text 28"/>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05</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Datos oficiales y volumen de demo</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sp>
        <p:nvSpPr>
          <p:cNvPr id="6" name="Text 4"/>
          <p:cNvSpPr/>
          <p:nvPr/>
        </p:nvSpPr>
        <p:spPr>
          <a:xfrm>
            <a:off x="777240" y="1627632"/>
            <a:ext cx="1097280" cy="164592"/>
          </a:xfrm>
          <a:prstGeom prst="rect">
            <a:avLst/>
          </a:prstGeom>
          <a:noFill/>
          <a:ln/>
        </p:spPr>
        <p:txBody>
          <a:bodyPr wrap="square" lIns="254" tIns="254" rIns="254" bIns="254" rtlCol="0" anchor="ctr">
            <a:normAutofit/>
          </a:bodyPr>
          <a:lstStyle/>
          <a:p>
            <a:pPr algn="l" indent="0" marL="0">
              <a:buNone/>
            </a:pPr>
            <a:r>
              <a:rPr lang="en-US" sz="900" b="1" dirty="0">
                <a:solidFill>
                  <a:srgbClr val="275DA8"/>
                </a:solidFill>
                <a:latin typeface="Aptos" pitchFamily="34" charset="0"/>
                <a:ea typeface="Aptos" pitchFamily="34" charset="-122"/>
                <a:cs typeface="Aptos" pitchFamily="34" charset="-120"/>
              </a:rPr>
              <a:t>p6dx-8zbt</a:t>
            </a:r>
            <a:endParaRPr lang="en-US" sz="900" dirty="0"/>
          </a:p>
        </p:txBody>
      </p:sp>
      <p:sp>
        <p:nvSpPr>
          <p:cNvPr id="7" name="Text 5"/>
          <p:cNvSpPr/>
          <p:nvPr/>
        </p:nvSpPr>
        <p:spPr>
          <a:xfrm>
            <a:off x="1920240" y="1609344"/>
            <a:ext cx="3017520" cy="201168"/>
          </a:xfrm>
          <a:prstGeom prst="rect">
            <a:avLst/>
          </a:prstGeom>
          <a:noFill/>
          <a:ln/>
        </p:spPr>
        <p:txBody>
          <a:bodyPr wrap="square" lIns="254" tIns="254" rIns="254" bIns="254" rtlCol="0" anchor="ctr">
            <a:normAutofit/>
          </a:bodyPr>
          <a:lstStyle/>
          <a:p>
            <a:pPr algn="l" indent="0" marL="0">
              <a:buNone/>
            </a:pPr>
            <a:r>
              <a:rPr lang="en-US" sz="1200" b="1" dirty="0">
                <a:solidFill>
                  <a:srgbClr val="263241"/>
                </a:solidFill>
                <a:latin typeface="Aptos" pitchFamily="34" charset="0"/>
                <a:ea typeface="Aptos" pitchFamily="34" charset="-122"/>
                <a:cs typeface="Aptos" pitchFamily="34" charset="-120"/>
              </a:rPr>
              <a:t>SECOP II Procesos</a:t>
            </a:r>
            <a:endParaRPr lang="en-US" sz="1200" dirty="0"/>
          </a:p>
        </p:txBody>
      </p:sp>
      <p:sp>
        <p:nvSpPr>
          <p:cNvPr id="8" name="Text 6"/>
          <p:cNvSpPr/>
          <p:nvPr/>
        </p:nvSpPr>
        <p:spPr>
          <a:xfrm>
            <a:off x="5074920" y="1627632"/>
            <a:ext cx="2468880" cy="164592"/>
          </a:xfrm>
          <a:prstGeom prst="rect">
            <a:avLst/>
          </a:prstGeom>
          <a:noFill/>
          <a:ln/>
        </p:spPr>
        <p:txBody>
          <a:bodyPr wrap="square" lIns="254" tIns="254" rIns="254" bIns="254" rtlCol="0" anchor="ctr">
            <a:normAutofit/>
          </a:bodyPr>
          <a:lstStyle/>
          <a:p>
            <a:pPr algn="l" indent="0" marL="0">
              <a:buNone/>
            </a:pPr>
            <a:r>
              <a:rPr lang="en-US" sz="900" dirty="0">
                <a:solidFill>
                  <a:srgbClr val="667085"/>
                </a:solidFill>
                <a:latin typeface="Aptos" pitchFamily="34" charset="0"/>
                <a:ea typeface="Aptos" pitchFamily="34" charset="-122"/>
                <a:cs typeface="Aptos" pitchFamily="34" charset="-120"/>
              </a:rPr>
              <a:t>unidad analitica</a:t>
            </a:r>
            <a:endParaRPr lang="en-US" sz="900" dirty="0"/>
          </a:p>
        </p:txBody>
      </p:sp>
      <p:sp>
        <p:nvSpPr>
          <p:cNvPr id="9" name="Text 7"/>
          <p:cNvSpPr/>
          <p:nvPr/>
        </p:nvSpPr>
        <p:spPr>
          <a:xfrm>
            <a:off x="777240" y="2286000"/>
            <a:ext cx="1097280" cy="164592"/>
          </a:xfrm>
          <a:prstGeom prst="rect">
            <a:avLst/>
          </a:prstGeom>
          <a:noFill/>
          <a:ln/>
        </p:spPr>
        <p:txBody>
          <a:bodyPr wrap="square" lIns="254" tIns="254" rIns="254" bIns="254" rtlCol="0" anchor="ctr">
            <a:normAutofit/>
          </a:bodyPr>
          <a:lstStyle/>
          <a:p>
            <a:pPr algn="l" indent="0" marL="0">
              <a:buNone/>
            </a:pPr>
            <a:r>
              <a:rPr lang="en-US" sz="900" b="1" dirty="0">
                <a:solidFill>
                  <a:srgbClr val="275DA8"/>
                </a:solidFill>
                <a:latin typeface="Aptos" pitchFamily="34" charset="0"/>
                <a:ea typeface="Aptos" pitchFamily="34" charset="-122"/>
                <a:cs typeface="Aptos" pitchFamily="34" charset="-120"/>
              </a:rPr>
              <a:t>rpmr-utcd</a:t>
            </a:r>
            <a:endParaRPr lang="en-US" sz="900" dirty="0"/>
          </a:p>
        </p:txBody>
      </p:sp>
      <p:sp>
        <p:nvSpPr>
          <p:cNvPr id="10" name="Text 8"/>
          <p:cNvSpPr/>
          <p:nvPr/>
        </p:nvSpPr>
        <p:spPr>
          <a:xfrm>
            <a:off x="1920240" y="2267712"/>
            <a:ext cx="3017520" cy="201168"/>
          </a:xfrm>
          <a:prstGeom prst="rect">
            <a:avLst/>
          </a:prstGeom>
          <a:noFill/>
          <a:ln/>
        </p:spPr>
        <p:txBody>
          <a:bodyPr wrap="square" lIns="254" tIns="254" rIns="254" bIns="254" rtlCol="0" anchor="ctr">
            <a:normAutofit/>
          </a:bodyPr>
          <a:lstStyle/>
          <a:p>
            <a:pPr algn="l" indent="0" marL="0">
              <a:buNone/>
            </a:pPr>
            <a:r>
              <a:rPr lang="en-US" sz="1200" b="1" dirty="0">
                <a:solidFill>
                  <a:srgbClr val="263241"/>
                </a:solidFill>
                <a:latin typeface="Aptos" pitchFamily="34" charset="0"/>
                <a:ea typeface="Aptos" pitchFamily="34" charset="-122"/>
                <a:cs typeface="Aptos" pitchFamily="34" charset="-120"/>
              </a:rPr>
              <a:t>SECOP Integrado</a:t>
            </a:r>
            <a:endParaRPr lang="en-US" sz="1200" dirty="0"/>
          </a:p>
        </p:txBody>
      </p:sp>
      <p:sp>
        <p:nvSpPr>
          <p:cNvPr id="11" name="Text 9"/>
          <p:cNvSpPr/>
          <p:nvPr/>
        </p:nvSpPr>
        <p:spPr>
          <a:xfrm>
            <a:off x="5074920" y="2286000"/>
            <a:ext cx="2468880" cy="164592"/>
          </a:xfrm>
          <a:prstGeom prst="rect">
            <a:avLst/>
          </a:prstGeom>
          <a:noFill/>
          <a:ln/>
        </p:spPr>
        <p:txBody>
          <a:bodyPr wrap="square" lIns="254" tIns="254" rIns="254" bIns="254" rtlCol="0" anchor="ctr">
            <a:normAutofit/>
          </a:bodyPr>
          <a:lstStyle/>
          <a:p>
            <a:pPr algn="l" indent="0" marL="0">
              <a:buNone/>
            </a:pPr>
            <a:r>
              <a:rPr lang="en-US" sz="900" dirty="0">
                <a:solidFill>
                  <a:srgbClr val="667085"/>
                </a:solidFill>
                <a:latin typeface="Aptos" pitchFamily="34" charset="0"/>
                <a:ea typeface="Aptos" pitchFamily="34" charset="-122"/>
                <a:cs typeface="Aptos" pitchFamily="34" charset="-120"/>
              </a:rPr>
              <a:t>contexto ejecucion</a:t>
            </a:r>
            <a:endParaRPr lang="en-US" sz="900" dirty="0"/>
          </a:p>
        </p:txBody>
      </p:sp>
      <p:sp>
        <p:nvSpPr>
          <p:cNvPr id="12" name="Text 10"/>
          <p:cNvSpPr/>
          <p:nvPr/>
        </p:nvSpPr>
        <p:spPr>
          <a:xfrm>
            <a:off x="777240" y="2944368"/>
            <a:ext cx="1097280" cy="164592"/>
          </a:xfrm>
          <a:prstGeom prst="rect">
            <a:avLst/>
          </a:prstGeom>
          <a:noFill/>
          <a:ln/>
        </p:spPr>
        <p:txBody>
          <a:bodyPr wrap="square" lIns="254" tIns="254" rIns="254" bIns="254" rtlCol="0" anchor="ctr">
            <a:normAutofit/>
          </a:bodyPr>
          <a:lstStyle/>
          <a:p>
            <a:pPr algn="l" indent="0" marL="0">
              <a:buNone/>
            </a:pPr>
            <a:r>
              <a:rPr lang="en-US" sz="900" b="1" dirty="0">
                <a:solidFill>
                  <a:srgbClr val="275DA8"/>
                </a:solidFill>
                <a:latin typeface="Aptos" pitchFamily="34" charset="0"/>
                <a:ea typeface="Aptos" pitchFamily="34" charset="-122"/>
                <a:cs typeface="Aptos" pitchFamily="34" charset="-120"/>
              </a:rPr>
              <a:t>9sue-ezhx</a:t>
            </a:r>
            <a:endParaRPr lang="en-US" sz="900" dirty="0"/>
          </a:p>
        </p:txBody>
      </p:sp>
      <p:sp>
        <p:nvSpPr>
          <p:cNvPr id="13" name="Text 11"/>
          <p:cNvSpPr/>
          <p:nvPr/>
        </p:nvSpPr>
        <p:spPr>
          <a:xfrm>
            <a:off x="1920240" y="2926080"/>
            <a:ext cx="3017520" cy="201168"/>
          </a:xfrm>
          <a:prstGeom prst="rect">
            <a:avLst/>
          </a:prstGeom>
          <a:noFill/>
          <a:ln/>
        </p:spPr>
        <p:txBody>
          <a:bodyPr wrap="square" lIns="254" tIns="254" rIns="254" bIns="254" rtlCol="0" anchor="ctr">
            <a:normAutofit/>
          </a:bodyPr>
          <a:lstStyle/>
          <a:p>
            <a:pPr algn="l" indent="0" marL="0">
              <a:buNone/>
            </a:pPr>
            <a:r>
              <a:rPr lang="en-US" sz="1200" b="1" dirty="0">
                <a:solidFill>
                  <a:srgbClr val="263241"/>
                </a:solidFill>
                <a:latin typeface="Aptos" pitchFamily="34" charset="0"/>
                <a:ea typeface="Aptos" pitchFamily="34" charset="-122"/>
                <a:cs typeface="Aptos" pitchFamily="34" charset="-120"/>
              </a:rPr>
              <a:t>PAA Detalle</a:t>
            </a:r>
            <a:endParaRPr lang="en-US" sz="1200" dirty="0"/>
          </a:p>
        </p:txBody>
      </p:sp>
      <p:sp>
        <p:nvSpPr>
          <p:cNvPr id="14" name="Text 12"/>
          <p:cNvSpPr/>
          <p:nvPr/>
        </p:nvSpPr>
        <p:spPr>
          <a:xfrm>
            <a:off x="5074920" y="2944368"/>
            <a:ext cx="2468880" cy="164592"/>
          </a:xfrm>
          <a:prstGeom prst="rect">
            <a:avLst/>
          </a:prstGeom>
          <a:noFill/>
          <a:ln/>
        </p:spPr>
        <p:txBody>
          <a:bodyPr wrap="square" lIns="254" tIns="254" rIns="254" bIns="254" rtlCol="0" anchor="ctr">
            <a:normAutofit/>
          </a:bodyPr>
          <a:lstStyle/>
          <a:p>
            <a:pPr algn="l" indent="0" marL="0">
              <a:buNone/>
            </a:pPr>
            <a:r>
              <a:rPr lang="en-US" sz="900" dirty="0">
                <a:solidFill>
                  <a:srgbClr val="667085"/>
                </a:solidFill>
                <a:latin typeface="Aptos" pitchFamily="34" charset="0"/>
                <a:ea typeface="Aptos" pitchFamily="34" charset="-122"/>
                <a:cs typeface="Aptos" pitchFamily="34" charset="-120"/>
              </a:rPr>
              <a:t>planeacion</a:t>
            </a:r>
            <a:endParaRPr lang="en-US" sz="900" dirty="0"/>
          </a:p>
        </p:txBody>
      </p:sp>
      <p:sp>
        <p:nvSpPr>
          <p:cNvPr id="15" name="Text 13"/>
          <p:cNvSpPr/>
          <p:nvPr/>
        </p:nvSpPr>
        <p:spPr>
          <a:xfrm>
            <a:off x="777240" y="3602736"/>
            <a:ext cx="1097280" cy="164592"/>
          </a:xfrm>
          <a:prstGeom prst="rect">
            <a:avLst/>
          </a:prstGeom>
          <a:noFill/>
          <a:ln/>
        </p:spPr>
        <p:txBody>
          <a:bodyPr wrap="square" lIns="254" tIns="254" rIns="254" bIns="254" rtlCol="0" anchor="ctr">
            <a:normAutofit/>
          </a:bodyPr>
          <a:lstStyle/>
          <a:p>
            <a:pPr algn="l" indent="0" marL="0">
              <a:buNone/>
            </a:pPr>
            <a:r>
              <a:rPr lang="en-US" sz="900" b="1" dirty="0">
                <a:solidFill>
                  <a:srgbClr val="275DA8"/>
                </a:solidFill>
                <a:latin typeface="Aptos" pitchFamily="34" charset="0"/>
                <a:ea typeface="Aptos" pitchFamily="34" charset="-122"/>
                <a:cs typeface="Aptos" pitchFamily="34" charset="-120"/>
              </a:rPr>
              <a:t>wasc-xi4h</a:t>
            </a:r>
            <a:endParaRPr lang="en-US" sz="900" dirty="0"/>
          </a:p>
        </p:txBody>
      </p:sp>
      <p:sp>
        <p:nvSpPr>
          <p:cNvPr id="16" name="Text 14"/>
          <p:cNvSpPr/>
          <p:nvPr/>
        </p:nvSpPr>
        <p:spPr>
          <a:xfrm>
            <a:off x="1920240" y="3584448"/>
            <a:ext cx="3017520" cy="201168"/>
          </a:xfrm>
          <a:prstGeom prst="rect">
            <a:avLst/>
          </a:prstGeom>
          <a:noFill/>
          <a:ln/>
        </p:spPr>
        <p:txBody>
          <a:bodyPr wrap="square" lIns="254" tIns="254" rIns="254" bIns="254" rtlCol="0" anchor="ctr">
            <a:normAutofit/>
          </a:bodyPr>
          <a:lstStyle/>
          <a:p>
            <a:pPr algn="l" indent="0" marL="0">
              <a:buNone/>
            </a:pPr>
            <a:r>
              <a:rPr lang="en-US" sz="1200" b="1" dirty="0">
                <a:solidFill>
                  <a:srgbClr val="263241"/>
                </a:solidFill>
                <a:latin typeface="Aptos" pitchFamily="34" charset="0"/>
                <a:ea typeface="Aptos" pitchFamily="34" charset="-122"/>
                <a:cs typeface="Aptos" pitchFamily="34" charset="-120"/>
              </a:rPr>
              <a:t>Control fiscal</a:t>
            </a:r>
            <a:endParaRPr lang="en-US" sz="1200" dirty="0"/>
          </a:p>
        </p:txBody>
      </p:sp>
      <p:sp>
        <p:nvSpPr>
          <p:cNvPr id="17" name="Text 15"/>
          <p:cNvSpPr/>
          <p:nvPr/>
        </p:nvSpPr>
        <p:spPr>
          <a:xfrm>
            <a:off x="5074920" y="3602736"/>
            <a:ext cx="2468880" cy="164592"/>
          </a:xfrm>
          <a:prstGeom prst="rect">
            <a:avLst/>
          </a:prstGeom>
          <a:noFill/>
          <a:ln/>
        </p:spPr>
        <p:txBody>
          <a:bodyPr wrap="square" lIns="254" tIns="254" rIns="254" bIns="254" rtlCol="0" anchor="ctr">
            <a:normAutofit/>
          </a:bodyPr>
          <a:lstStyle/>
          <a:p>
            <a:pPr algn="l" indent="0" marL="0">
              <a:buNone/>
            </a:pPr>
            <a:r>
              <a:rPr lang="en-US" sz="900" dirty="0">
                <a:solidFill>
                  <a:srgbClr val="667085"/>
                </a:solidFill>
                <a:latin typeface="Aptos" pitchFamily="34" charset="0"/>
                <a:ea typeface="Aptos" pitchFamily="34" charset="-122"/>
                <a:cs typeface="Aptos" pitchFamily="34" charset="-120"/>
              </a:rPr>
              <a:t>contexto visible</a:t>
            </a:r>
            <a:endParaRPr lang="en-US" sz="900" dirty="0"/>
          </a:p>
        </p:txBody>
      </p:sp>
      <p:sp>
        <p:nvSpPr>
          <p:cNvPr id="18" name="Shape 16"/>
          <p:cNvSpPr/>
          <p:nvPr/>
        </p:nvSpPr>
        <p:spPr>
          <a:xfrm>
            <a:off x="7909560" y="1600200"/>
            <a:ext cx="1600200" cy="960120"/>
          </a:xfrm>
          <a:prstGeom prst="roundRect">
            <a:avLst>
              <a:gd name="adj" fmla="val 7619"/>
            </a:avLst>
          </a:prstGeom>
          <a:solidFill>
            <a:srgbClr val="FFFFFF"/>
          </a:solidFill>
          <a:ln w="12700">
            <a:solidFill>
              <a:srgbClr val="D9DEE8"/>
            </a:solidFill>
            <a:prstDash val="solid"/>
          </a:ln>
        </p:spPr>
      </p:sp>
      <p:sp>
        <p:nvSpPr>
          <p:cNvPr id="19" name="Text 17"/>
          <p:cNvSpPr/>
          <p:nvPr/>
        </p:nvSpPr>
        <p:spPr>
          <a:xfrm>
            <a:off x="8074152" y="1728216"/>
            <a:ext cx="1271016" cy="329184"/>
          </a:xfrm>
          <a:prstGeom prst="rect">
            <a:avLst/>
          </a:prstGeom>
          <a:noFill/>
          <a:ln/>
        </p:spPr>
        <p:txBody>
          <a:bodyPr wrap="square" lIns="254" tIns="254" rIns="254" bIns="254" rtlCol="0" anchor="ctr">
            <a:normAutofit/>
          </a:bodyPr>
          <a:lstStyle/>
          <a:p>
            <a:pPr algn="l" indent="0" marL="0">
              <a:buNone/>
            </a:pPr>
            <a:r>
              <a:rPr lang="en-US" sz="2400" b="1" dirty="0">
                <a:solidFill>
                  <a:srgbClr val="275DA8"/>
                </a:solidFill>
                <a:latin typeface="Aptos" pitchFamily="34" charset="0"/>
                <a:ea typeface="Aptos" pitchFamily="34" charset="-122"/>
                <a:cs typeface="Aptos" pitchFamily="34" charset="-120"/>
              </a:rPr>
              <a:t>17.229</a:t>
            </a:r>
            <a:endParaRPr lang="en-US" sz="2400" dirty="0"/>
          </a:p>
        </p:txBody>
      </p:sp>
      <p:sp>
        <p:nvSpPr>
          <p:cNvPr id="20" name="Text 18"/>
          <p:cNvSpPr/>
          <p:nvPr/>
        </p:nvSpPr>
        <p:spPr>
          <a:xfrm>
            <a:off x="8074152" y="2167128"/>
            <a:ext cx="1271016" cy="201168"/>
          </a:xfrm>
          <a:prstGeom prst="rect">
            <a:avLst/>
          </a:prstGeom>
          <a:noFill/>
          <a:ln/>
        </p:spPr>
        <p:txBody>
          <a:bodyPr wrap="square" lIns="254" tIns="254" rIns="254" bIns="254" rtlCol="0" anchor="ctr">
            <a:normAutofit/>
          </a:bodyPr>
          <a:lstStyle/>
          <a:p>
            <a:pPr algn="l" indent="0" marL="0">
              <a:buNone/>
            </a:pPr>
            <a:r>
              <a:rPr lang="en-US" sz="900" dirty="0">
                <a:solidFill>
                  <a:srgbClr val="667085"/>
                </a:solidFill>
                <a:latin typeface="Aptos" pitchFamily="34" charset="0"/>
                <a:ea typeface="Aptos" pitchFamily="34" charset="-122"/>
                <a:cs typeface="Aptos" pitchFamily="34" charset="-120"/>
              </a:rPr>
              <a:t>procesos</a:t>
            </a:r>
            <a:endParaRPr lang="en-US" sz="900" dirty="0"/>
          </a:p>
        </p:txBody>
      </p:sp>
      <p:sp>
        <p:nvSpPr>
          <p:cNvPr id="21" name="Shape 19"/>
          <p:cNvSpPr/>
          <p:nvPr/>
        </p:nvSpPr>
        <p:spPr>
          <a:xfrm>
            <a:off x="9692640" y="1600200"/>
            <a:ext cx="1600200" cy="960120"/>
          </a:xfrm>
          <a:prstGeom prst="roundRect">
            <a:avLst>
              <a:gd name="adj" fmla="val 7619"/>
            </a:avLst>
          </a:prstGeom>
          <a:solidFill>
            <a:srgbClr val="FFFFFF"/>
          </a:solidFill>
          <a:ln w="12700">
            <a:solidFill>
              <a:srgbClr val="D9DEE8"/>
            </a:solidFill>
            <a:prstDash val="solid"/>
          </a:ln>
        </p:spPr>
      </p:sp>
      <p:sp>
        <p:nvSpPr>
          <p:cNvPr id="22" name="Text 20"/>
          <p:cNvSpPr/>
          <p:nvPr/>
        </p:nvSpPr>
        <p:spPr>
          <a:xfrm>
            <a:off x="9857232" y="1728216"/>
            <a:ext cx="1271016" cy="329184"/>
          </a:xfrm>
          <a:prstGeom prst="rect">
            <a:avLst/>
          </a:prstGeom>
          <a:noFill/>
          <a:ln/>
        </p:spPr>
        <p:txBody>
          <a:bodyPr wrap="square" lIns="254" tIns="254" rIns="254" bIns="254" rtlCol="0" anchor="ctr">
            <a:normAutofit/>
          </a:bodyPr>
          <a:lstStyle/>
          <a:p>
            <a:pPr algn="l" indent="0" marL="0">
              <a:buNone/>
            </a:pPr>
            <a:r>
              <a:rPr lang="en-US" sz="2400" b="1" dirty="0">
                <a:solidFill>
                  <a:srgbClr val="2F8F64"/>
                </a:solidFill>
                <a:latin typeface="Aptos" pitchFamily="34" charset="0"/>
                <a:ea typeface="Aptos" pitchFamily="34" charset="-122"/>
                <a:cs typeface="Aptos" pitchFamily="34" charset="-120"/>
              </a:rPr>
              <a:t>68.916</a:t>
            </a:r>
            <a:endParaRPr lang="en-US" sz="2400" dirty="0"/>
          </a:p>
        </p:txBody>
      </p:sp>
      <p:sp>
        <p:nvSpPr>
          <p:cNvPr id="23" name="Text 21"/>
          <p:cNvSpPr/>
          <p:nvPr/>
        </p:nvSpPr>
        <p:spPr>
          <a:xfrm>
            <a:off x="9857232" y="2167128"/>
            <a:ext cx="1271016" cy="201168"/>
          </a:xfrm>
          <a:prstGeom prst="rect">
            <a:avLst/>
          </a:prstGeom>
          <a:noFill/>
          <a:ln/>
        </p:spPr>
        <p:txBody>
          <a:bodyPr wrap="square" lIns="254" tIns="254" rIns="254" bIns="254" rtlCol="0" anchor="ctr">
            <a:normAutofit/>
          </a:bodyPr>
          <a:lstStyle/>
          <a:p>
            <a:pPr algn="l" indent="0" marL="0">
              <a:buNone/>
            </a:pPr>
            <a:r>
              <a:rPr lang="en-US" sz="900" dirty="0">
                <a:solidFill>
                  <a:srgbClr val="667085"/>
                </a:solidFill>
                <a:latin typeface="Aptos" pitchFamily="34" charset="0"/>
                <a:ea typeface="Aptos" pitchFamily="34" charset="-122"/>
                <a:cs typeface="Aptos" pitchFamily="34" charset="-120"/>
              </a:rPr>
              <a:t>razones</a:t>
            </a:r>
            <a:endParaRPr lang="en-US" sz="900" dirty="0"/>
          </a:p>
        </p:txBody>
      </p:sp>
      <p:sp>
        <p:nvSpPr>
          <p:cNvPr id="24" name="Shape 22"/>
          <p:cNvSpPr/>
          <p:nvPr/>
        </p:nvSpPr>
        <p:spPr>
          <a:xfrm>
            <a:off x="7909560" y="2788920"/>
            <a:ext cx="1600200" cy="960120"/>
          </a:xfrm>
          <a:prstGeom prst="roundRect">
            <a:avLst>
              <a:gd name="adj" fmla="val 7619"/>
            </a:avLst>
          </a:prstGeom>
          <a:solidFill>
            <a:srgbClr val="FFFFFF"/>
          </a:solidFill>
          <a:ln w="12700">
            <a:solidFill>
              <a:srgbClr val="D9DEE8"/>
            </a:solidFill>
            <a:prstDash val="solid"/>
          </a:ln>
        </p:spPr>
      </p:sp>
      <p:sp>
        <p:nvSpPr>
          <p:cNvPr id="25" name="Text 23"/>
          <p:cNvSpPr/>
          <p:nvPr/>
        </p:nvSpPr>
        <p:spPr>
          <a:xfrm>
            <a:off x="8074152" y="2916936"/>
            <a:ext cx="1271016" cy="329184"/>
          </a:xfrm>
          <a:prstGeom prst="rect">
            <a:avLst/>
          </a:prstGeom>
          <a:noFill/>
          <a:ln/>
        </p:spPr>
        <p:txBody>
          <a:bodyPr wrap="square" lIns="254" tIns="254" rIns="254" bIns="254" rtlCol="0" anchor="ctr">
            <a:normAutofit/>
          </a:bodyPr>
          <a:lstStyle/>
          <a:p>
            <a:pPr algn="l" indent="0" marL="0">
              <a:buNone/>
            </a:pPr>
            <a:r>
              <a:rPr lang="en-US" sz="2400" b="1" dirty="0">
                <a:solidFill>
                  <a:srgbClr val="B7791F"/>
                </a:solidFill>
                <a:latin typeface="Aptos" pitchFamily="34" charset="0"/>
                <a:ea typeface="Aptos" pitchFamily="34" charset="-122"/>
                <a:cs typeface="Aptos" pitchFamily="34" charset="-120"/>
              </a:rPr>
              <a:t>4.494</a:t>
            </a:r>
            <a:endParaRPr lang="en-US" sz="2400" dirty="0"/>
          </a:p>
        </p:txBody>
      </p:sp>
      <p:sp>
        <p:nvSpPr>
          <p:cNvPr id="26" name="Text 24"/>
          <p:cNvSpPr/>
          <p:nvPr/>
        </p:nvSpPr>
        <p:spPr>
          <a:xfrm>
            <a:off x="8074152" y="3355848"/>
            <a:ext cx="1271016" cy="201168"/>
          </a:xfrm>
          <a:prstGeom prst="rect">
            <a:avLst/>
          </a:prstGeom>
          <a:noFill/>
          <a:ln/>
        </p:spPr>
        <p:txBody>
          <a:bodyPr wrap="square" lIns="254" tIns="254" rIns="254" bIns="254" rtlCol="0" anchor="ctr">
            <a:normAutofit/>
          </a:bodyPr>
          <a:lstStyle/>
          <a:p>
            <a:pPr algn="l" indent="0" marL="0">
              <a:buNone/>
            </a:pPr>
            <a:r>
              <a:rPr lang="en-US" sz="900" dirty="0">
                <a:solidFill>
                  <a:srgbClr val="667085"/>
                </a:solidFill>
                <a:latin typeface="Aptos" pitchFamily="34" charset="0"/>
                <a:ea typeface="Aptos" pitchFamily="34" charset="-122"/>
                <a:cs typeface="Aptos" pitchFamily="34" charset="-120"/>
              </a:rPr>
              <a:t>PAA items</a:t>
            </a:r>
            <a:endParaRPr lang="en-US" sz="900" dirty="0"/>
          </a:p>
        </p:txBody>
      </p:sp>
      <p:sp>
        <p:nvSpPr>
          <p:cNvPr id="27" name="Shape 25"/>
          <p:cNvSpPr/>
          <p:nvPr/>
        </p:nvSpPr>
        <p:spPr>
          <a:xfrm>
            <a:off x="9692640" y="2788920"/>
            <a:ext cx="1600200" cy="960120"/>
          </a:xfrm>
          <a:prstGeom prst="roundRect">
            <a:avLst>
              <a:gd name="adj" fmla="val 7619"/>
            </a:avLst>
          </a:prstGeom>
          <a:solidFill>
            <a:srgbClr val="FFFFFF"/>
          </a:solidFill>
          <a:ln w="12700">
            <a:solidFill>
              <a:srgbClr val="D9DEE8"/>
            </a:solidFill>
            <a:prstDash val="solid"/>
          </a:ln>
        </p:spPr>
      </p:sp>
      <p:sp>
        <p:nvSpPr>
          <p:cNvPr id="28" name="Text 26"/>
          <p:cNvSpPr/>
          <p:nvPr/>
        </p:nvSpPr>
        <p:spPr>
          <a:xfrm>
            <a:off x="9857232" y="2916936"/>
            <a:ext cx="1271016" cy="329184"/>
          </a:xfrm>
          <a:prstGeom prst="rect">
            <a:avLst/>
          </a:prstGeom>
          <a:noFill/>
          <a:ln/>
        </p:spPr>
        <p:txBody>
          <a:bodyPr wrap="square" lIns="254" tIns="254" rIns="254" bIns="254" rtlCol="0" anchor="ctr">
            <a:normAutofit/>
          </a:bodyPr>
          <a:lstStyle/>
          <a:p>
            <a:pPr algn="l" indent="0" marL="0">
              <a:buNone/>
            </a:pPr>
            <a:r>
              <a:rPr lang="en-US" sz="2400" b="1" dirty="0">
                <a:solidFill>
                  <a:srgbClr val="153E75"/>
                </a:solidFill>
                <a:latin typeface="Aptos" pitchFamily="34" charset="0"/>
                <a:ea typeface="Aptos" pitchFamily="34" charset="-122"/>
                <a:cs typeface="Aptos" pitchFamily="34" charset="-120"/>
              </a:rPr>
              <a:t>41.996</a:t>
            </a:r>
            <a:endParaRPr lang="en-US" sz="2400" dirty="0"/>
          </a:p>
        </p:txBody>
      </p:sp>
      <p:sp>
        <p:nvSpPr>
          <p:cNvPr id="29" name="Text 27"/>
          <p:cNvSpPr/>
          <p:nvPr/>
        </p:nvSpPr>
        <p:spPr>
          <a:xfrm>
            <a:off x="9857232" y="3355848"/>
            <a:ext cx="1271016" cy="201168"/>
          </a:xfrm>
          <a:prstGeom prst="rect">
            <a:avLst/>
          </a:prstGeom>
          <a:noFill/>
          <a:ln/>
        </p:spPr>
        <p:txBody>
          <a:bodyPr wrap="square" lIns="254" tIns="254" rIns="254" bIns="254" rtlCol="0" anchor="ctr">
            <a:normAutofit/>
          </a:bodyPr>
          <a:lstStyle/>
          <a:p>
            <a:pPr algn="l" indent="0" marL="0">
              <a:buNone/>
            </a:pPr>
            <a:r>
              <a:rPr lang="en-US" sz="900" dirty="0">
                <a:solidFill>
                  <a:srgbClr val="667085"/>
                </a:solidFill>
                <a:latin typeface="Aptos" pitchFamily="34" charset="0"/>
                <a:ea typeface="Aptos" pitchFamily="34" charset="-122"/>
                <a:cs typeface="Aptos" pitchFamily="34" charset="-120"/>
              </a:rPr>
              <a:t>auditoria</a:t>
            </a:r>
            <a:endParaRPr lang="en-US" sz="900" dirty="0"/>
          </a:p>
        </p:txBody>
      </p:sp>
      <p:sp>
        <p:nvSpPr>
          <p:cNvPr id="30" name="Text 28"/>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06</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Arquitectura de extremo a extremo</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pic>
        <p:nvPicPr>
          <p:cNvPr id="6" name="Image 0" descr="/Users/thom/Desktop/IA colombia/secop-risk-alerts-co/slides/assets/architecture.png">    </p:cNvPr>
          <p:cNvPicPr>
            <a:picLocks noChangeAspect="1"/>
          </p:cNvPicPr>
          <p:nvPr/>
        </p:nvPicPr>
        <p:blipFill>
          <a:blip r:embed="rId1"/>
          <a:stretch>
            <a:fillRect/>
          </a:stretch>
        </p:blipFill>
        <p:spPr>
          <a:xfrm>
            <a:off x="777240" y="1517904"/>
            <a:ext cx="10652760" cy="4617720"/>
          </a:xfrm>
          <a:prstGeom prst="rect">
            <a:avLst/>
          </a:prstGeom>
        </p:spPr>
      </p:pic>
      <p:sp>
        <p:nvSpPr>
          <p:cNvPr id="7" name="Text 4"/>
          <p:cNvSpPr/>
          <p:nvPr/>
        </p:nvSpPr>
        <p:spPr>
          <a:xfrm>
            <a:off x="868680" y="6108192"/>
            <a:ext cx="9784080" cy="219456"/>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Socrata -&gt; ETL -&gt; PostgreSQL + MongoDB -&gt; FastAPI -&gt; Dash.</a:t>
            </a:r>
            <a:endParaRPr lang="en-US" sz="1000" dirty="0"/>
          </a:p>
        </p:txBody>
      </p:sp>
      <p:sp>
        <p:nvSpPr>
          <p:cNvPr id="8" name="Text 5"/>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07</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Modelo relacional como fuente de verdad</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pic>
        <p:nvPicPr>
          <p:cNvPr id="6" name="Image 0" descr="/Users/thom/Desktop/IA colombia/secop-risk-alerts-co/slides/assets/er_model.png">    </p:cNvPr>
          <p:cNvPicPr>
            <a:picLocks noChangeAspect="1"/>
          </p:cNvPicPr>
          <p:nvPr/>
        </p:nvPicPr>
        <p:blipFill>
          <a:blip r:embed="rId1"/>
          <a:stretch>
            <a:fillRect/>
          </a:stretch>
        </p:blipFill>
        <p:spPr>
          <a:xfrm>
            <a:off x="777240" y="1517904"/>
            <a:ext cx="10652760" cy="4617720"/>
          </a:xfrm>
          <a:prstGeom prst="rect">
            <a:avLst/>
          </a:prstGeom>
        </p:spPr>
      </p:pic>
      <p:sp>
        <p:nvSpPr>
          <p:cNvPr id="7" name="Text 4"/>
          <p:cNvSpPr/>
          <p:nvPr/>
        </p:nvSpPr>
        <p:spPr>
          <a:xfrm>
            <a:off x="868680" y="6108192"/>
            <a:ext cx="9784080" cy="219456"/>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33 tablas con PK/FK, constraints, indices, vistas y triggers.</a:t>
            </a:r>
            <a:endParaRPr lang="en-US" sz="1000" dirty="0"/>
          </a:p>
        </p:txBody>
      </p:sp>
      <p:sp>
        <p:nvSpPr>
          <p:cNvPr id="8" name="Text 5"/>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08</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NoSQL y auditoria documental</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sp>
        <p:nvSpPr>
          <p:cNvPr id="6" name="Text 4"/>
          <p:cNvSpPr/>
          <p:nvPr/>
        </p:nvSpPr>
        <p:spPr>
          <a:xfrm>
            <a:off x="960120" y="1664208"/>
            <a:ext cx="3108960" cy="182880"/>
          </a:xfrm>
          <a:prstGeom prst="rect">
            <a:avLst/>
          </a:prstGeom>
          <a:noFill/>
          <a:ln/>
        </p:spPr>
        <p:txBody>
          <a:bodyPr wrap="square" lIns="254" tIns="254" rIns="254" bIns="254" rtlCol="0" anchor="ctr">
            <a:normAutofit/>
          </a:bodyPr>
          <a:lstStyle/>
          <a:p>
            <a:pPr algn="l" indent="0" marL="0">
              <a:buNone/>
            </a:pPr>
            <a:r>
              <a:rPr lang="en-US" sz="1400" b="1" dirty="0">
                <a:solidFill>
                  <a:srgbClr val="153E75"/>
                </a:solidFill>
                <a:latin typeface="Aptos" pitchFamily="34" charset="0"/>
                <a:ea typeface="Aptos" pitchFamily="34" charset="-122"/>
                <a:cs typeface="Aptos" pitchFamily="34" charset="-120"/>
              </a:rPr>
              <a:t>raw_process_snapshots</a:t>
            </a:r>
            <a:endParaRPr lang="en-US" sz="1400" dirty="0"/>
          </a:p>
        </p:txBody>
      </p:sp>
      <p:sp>
        <p:nvSpPr>
          <p:cNvPr id="7" name="Text 5"/>
          <p:cNvSpPr/>
          <p:nvPr/>
        </p:nvSpPr>
        <p:spPr>
          <a:xfrm>
            <a:off x="4315968" y="1664208"/>
            <a:ext cx="1463040" cy="182880"/>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100 documento(s)</a:t>
            </a:r>
            <a:endParaRPr lang="en-US" sz="1000" dirty="0"/>
          </a:p>
        </p:txBody>
      </p:sp>
      <p:sp>
        <p:nvSpPr>
          <p:cNvPr id="8" name="Shape 6"/>
          <p:cNvSpPr/>
          <p:nvPr/>
        </p:nvSpPr>
        <p:spPr>
          <a:xfrm>
            <a:off x="914400" y="1993392"/>
            <a:ext cx="4754880" cy="0"/>
          </a:xfrm>
          <a:prstGeom prst="line">
            <a:avLst/>
          </a:prstGeom>
          <a:noFill/>
          <a:ln w="9525">
            <a:solidFill>
              <a:srgbClr val="D9DEE8"/>
            </a:solidFill>
            <a:prstDash val="solid"/>
          </a:ln>
        </p:spPr>
      </p:sp>
      <p:sp>
        <p:nvSpPr>
          <p:cNvPr id="9" name="Text 7"/>
          <p:cNvSpPr/>
          <p:nvPr/>
        </p:nvSpPr>
        <p:spPr>
          <a:xfrm>
            <a:off x="960120" y="2322576"/>
            <a:ext cx="3108960" cy="182880"/>
          </a:xfrm>
          <a:prstGeom prst="rect">
            <a:avLst/>
          </a:prstGeom>
          <a:noFill/>
          <a:ln/>
        </p:spPr>
        <p:txBody>
          <a:bodyPr wrap="square" lIns="254" tIns="254" rIns="254" bIns="254" rtlCol="0" anchor="ctr">
            <a:normAutofit/>
          </a:bodyPr>
          <a:lstStyle/>
          <a:p>
            <a:pPr algn="l" indent="0" marL="0">
              <a:buNone/>
            </a:pPr>
            <a:r>
              <a:rPr lang="en-US" sz="1400" b="1" dirty="0">
                <a:solidFill>
                  <a:srgbClr val="153E75"/>
                </a:solidFill>
                <a:latin typeface="Aptos" pitchFamily="34" charset="0"/>
                <a:ea typeface="Aptos" pitchFamily="34" charset="-122"/>
                <a:cs typeface="Aptos" pitchFamily="34" charset="-120"/>
              </a:rPr>
              <a:t>etl_run_logs</a:t>
            </a:r>
            <a:endParaRPr lang="en-US" sz="1400" dirty="0"/>
          </a:p>
        </p:txBody>
      </p:sp>
      <p:sp>
        <p:nvSpPr>
          <p:cNvPr id="10" name="Text 8"/>
          <p:cNvSpPr/>
          <p:nvPr/>
        </p:nvSpPr>
        <p:spPr>
          <a:xfrm>
            <a:off x="4315968" y="2322576"/>
            <a:ext cx="1463040" cy="182880"/>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1 documento(s)</a:t>
            </a:r>
            <a:endParaRPr lang="en-US" sz="1000" dirty="0"/>
          </a:p>
        </p:txBody>
      </p:sp>
      <p:sp>
        <p:nvSpPr>
          <p:cNvPr id="11" name="Shape 9"/>
          <p:cNvSpPr/>
          <p:nvPr/>
        </p:nvSpPr>
        <p:spPr>
          <a:xfrm>
            <a:off x="914400" y="2651760"/>
            <a:ext cx="4754880" cy="0"/>
          </a:xfrm>
          <a:prstGeom prst="line">
            <a:avLst/>
          </a:prstGeom>
          <a:noFill/>
          <a:ln w="9525">
            <a:solidFill>
              <a:srgbClr val="D9DEE8"/>
            </a:solidFill>
            <a:prstDash val="solid"/>
          </a:ln>
        </p:spPr>
      </p:sp>
      <p:sp>
        <p:nvSpPr>
          <p:cNvPr id="12" name="Text 10"/>
          <p:cNvSpPr/>
          <p:nvPr/>
        </p:nvSpPr>
        <p:spPr>
          <a:xfrm>
            <a:off x="960120" y="2980944"/>
            <a:ext cx="3108960" cy="182880"/>
          </a:xfrm>
          <a:prstGeom prst="rect">
            <a:avLst/>
          </a:prstGeom>
          <a:noFill/>
          <a:ln/>
        </p:spPr>
        <p:txBody>
          <a:bodyPr wrap="square" lIns="254" tIns="254" rIns="254" bIns="254" rtlCol="0" anchor="ctr">
            <a:normAutofit/>
          </a:bodyPr>
          <a:lstStyle/>
          <a:p>
            <a:pPr algn="l" indent="0" marL="0">
              <a:buNone/>
            </a:pPr>
            <a:r>
              <a:rPr lang="en-US" sz="1400" b="1" dirty="0">
                <a:solidFill>
                  <a:srgbClr val="153E75"/>
                </a:solidFill>
                <a:latin typeface="Aptos" pitchFamily="34" charset="0"/>
                <a:ea typeface="Aptos" pitchFamily="34" charset="-122"/>
                <a:cs typeface="Aptos" pitchFamily="34" charset="-120"/>
              </a:rPr>
              <a:t>risk_event_logs</a:t>
            </a:r>
            <a:endParaRPr lang="en-US" sz="1400" dirty="0"/>
          </a:p>
        </p:txBody>
      </p:sp>
      <p:sp>
        <p:nvSpPr>
          <p:cNvPr id="13" name="Text 11"/>
          <p:cNvSpPr/>
          <p:nvPr/>
        </p:nvSpPr>
        <p:spPr>
          <a:xfrm>
            <a:off x="4315968" y="2980944"/>
            <a:ext cx="1463040" cy="182880"/>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1 documento(s)</a:t>
            </a:r>
            <a:endParaRPr lang="en-US" sz="1000" dirty="0"/>
          </a:p>
        </p:txBody>
      </p:sp>
      <p:sp>
        <p:nvSpPr>
          <p:cNvPr id="14" name="Shape 12"/>
          <p:cNvSpPr/>
          <p:nvPr/>
        </p:nvSpPr>
        <p:spPr>
          <a:xfrm>
            <a:off x="914400" y="3310128"/>
            <a:ext cx="4754880" cy="0"/>
          </a:xfrm>
          <a:prstGeom prst="line">
            <a:avLst/>
          </a:prstGeom>
          <a:noFill/>
          <a:ln w="9525">
            <a:solidFill>
              <a:srgbClr val="D9DEE8"/>
            </a:solidFill>
            <a:prstDash val="solid"/>
          </a:ln>
        </p:spPr>
      </p:sp>
      <p:sp>
        <p:nvSpPr>
          <p:cNvPr id="15" name="Text 13"/>
          <p:cNvSpPr/>
          <p:nvPr/>
        </p:nvSpPr>
        <p:spPr>
          <a:xfrm>
            <a:off x="960120" y="3639312"/>
            <a:ext cx="3108960" cy="182880"/>
          </a:xfrm>
          <a:prstGeom prst="rect">
            <a:avLst/>
          </a:prstGeom>
          <a:noFill/>
          <a:ln/>
        </p:spPr>
        <p:txBody>
          <a:bodyPr wrap="square" lIns="254" tIns="254" rIns="254" bIns="254" rtlCol="0" anchor="ctr">
            <a:normAutofit/>
          </a:bodyPr>
          <a:lstStyle/>
          <a:p>
            <a:pPr algn="l" indent="0" marL="0">
              <a:buNone/>
            </a:pPr>
            <a:r>
              <a:rPr lang="en-US" sz="1400" b="1" dirty="0">
                <a:solidFill>
                  <a:srgbClr val="153E75"/>
                </a:solidFill>
                <a:latin typeface="Aptos" pitchFamily="34" charset="0"/>
                <a:ea typeface="Aptos" pitchFamily="34" charset="-122"/>
                <a:cs typeface="Aptos" pitchFamily="34" charset="-120"/>
              </a:rPr>
              <a:t>report_snapshots</a:t>
            </a:r>
            <a:endParaRPr lang="en-US" sz="1400" dirty="0"/>
          </a:p>
        </p:txBody>
      </p:sp>
      <p:sp>
        <p:nvSpPr>
          <p:cNvPr id="16" name="Text 14"/>
          <p:cNvSpPr/>
          <p:nvPr/>
        </p:nvSpPr>
        <p:spPr>
          <a:xfrm>
            <a:off x="4315968" y="3639312"/>
            <a:ext cx="1463040" cy="182880"/>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1 documento(s)</a:t>
            </a:r>
            <a:endParaRPr lang="en-US" sz="1000" dirty="0"/>
          </a:p>
        </p:txBody>
      </p:sp>
      <p:sp>
        <p:nvSpPr>
          <p:cNvPr id="17" name="Shape 15"/>
          <p:cNvSpPr/>
          <p:nvPr/>
        </p:nvSpPr>
        <p:spPr>
          <a:xfrm>
            <a:off x="914400" y="3968496"/>
            <a:ext cx="4754880" cy="0"/>
          </a:xfrm>
          <a:prstGeom prst="line">
            <a:avLst/>
          </a:prstGeom>
          <a:noFill/>
          <a:ln w="9525">
            <a:solidFill>
              <a:srgbClr val="D9DEE8"/>
            </a:solidFill>
            <a:prstDash val="solid"/>
          </a:ln>
        </p:spPr>
      </p:sp>
      <p:sp>
        <p:nvSpPr>
          <p:cNvPr id="18" name="Text 16"/>
          <p:cNvSpPr/>
          <p:nvPr/>
        </p:nvSpPr>
        <p:spPr>
          <a:xfrm>
            <a:off x="960120" y="4297680"/>
            <a:ext cx="3108960" cy="182880"/>
          </a:xfrm>
          <a:prstGeom prst="rect">
            <a:avLst/>
          </a:prstGeom>
          <a:noFill/>
          <a:ln/>
        </p:spPr>
        <p:txBody>
          <a:bodyPr wrap="square" lIns="254" tIns="254" rIns="254" bIns="254" rtlCol="0" anchor="ctr">
            <a:normAutofit/>
          </a:bodyPr>
          <a:lstStyle/>
          <a:p>
            <a:pPr algn="l" indent="0" marL="0">
              <a:buNone/>
            </a:pPr>
            <a:r>
              <a:rPr lang="en-US" sz="1400" b="1" dirty="0">
                <a:solidFill>
                  <a:srgbClr val="153E75"/>
                </a:solidFill>
                <a:latin typeface="Aptos" pitchFamily="34" charset="0"/>
                <a:ea typeface="Aptos" pitchFamily="34" charset="-122"/>
                <a:cs typeface="Aptos" pitchFamily="34" charset="-120"/>
              </a:rPr>
              <a:t>user_action_logs</a:t>
            </a:r>
            <a:endParaRPr lang="en-US" sz="1400" dirty="0"/>
          </a:p>
        </p:txBody>
      </p:sp>
      <p:sp>
        <p:nvSpPr>
          <p:cNvPr id="19" name="Text 17"/>
          <p:cNvSpPr/>
          <p:nvPr/>
        </p:nvSpPr>
        <p:spPr>
          <a:xfrm>
            <a:off x="4315968" y="4297680"/>
            <a:ext cx="1463040" cy="182880"/>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1 documento(s)</a:t>
            </a:r>
            <a:endParaRPr lang="en-US" sz="1000" dirty="0"/>
          </a:p>
        </p:txBody>
      </p:sp>
      <p:sp>
        <p:nvSpPr>
          <p:cNvPr id="20" name="Shape 18"/>
          <p:cNvSpPr/>
          <p:nvPr/>
        </p:nvSpPr>
        <p:spPr>
          <a:xfrm>
            <a:off x="914400" y="4626864"/>
            <a:ext cx="4754880" cy="0"/>
          </a:xfrm>
          <a:prstGeom prst="line">
            <a:avLst/>
          </a:prstGeom>
          <a:noFill/>
          <a:ln w="9525">
            <a:solidFill>
              <a:srgbClr val="D9DEE8"/>
            </a:solidFill>
            <a:prstDash val="solid"/>
          </a:ln>
        </p:spPr>
      </p:sp>
      <p:sp>
        <p:nvSpPr>
          <p:cNvPr id="21" name="Text 19"/>
          <p:cNvSpPr/>
          <p:nvPr/>
        </p:nvSpPr>
        <p:spPr>
          <a:xfrm>
            <a:off x="6583680" y="2084832"/>
            <a:ext cx="3977640" cy="585216"/>
          </a:xfrm>
          <a:prstGeom prst="rect">
            <a:avLst/>
          </a:prstGeom>
          <a:noFill/>
          <a:ln/>
        </p:spPr>
        <p:txBody>
          <a:bodyPr wrap="square" lIns="254" tIns="254" rIns="254" bIns="254" rtlCol="0" anchor="ctr">
            <a:normAutofit/>
          </a:bodyPr>
          <a:lstStyle/>
          <a:p>
            <a:pPr algn="l" indent="0" marL="0">
              <a:buNone/>
            </a:pPr>
            <a:r>
              <a:rPr lang="en-US" sz="2200" b="1" dirty="0">
                <a:solidFill>
                  <a:srgbClr val="153E75"/>
                </a:solidFill>
                <a:latin typeface="Aptos" pitchFamily="34" charset="0"/>
                <a:ea typeface="Aptos" pitchFamily="34" charset="-122"/>
                <a:cs typeface="Aptos" pitchFamily="34" charset="-120"/>
              </a:rPr>
              <a:t>MongoDB guarda evidencia flexible sin deformar el modelo relacional.</a:t>
            </a:r>
            <a:endParaRPr lang="en-US" sz="2200" dirty="0"/>
          </a:p>
        </p:txBody>
      </p:sp>
      <p:sp>
        <p:nvSpPr>
          <p:cNvPr id="22" name="Text 20"/>
          <p:cNvSpPr/>
          <p:nvPr/>
        </p:nvSpPr>
        <p:spPr>
          <a:xfrm>
            <a:off x="6601968" y="2971800"/>
            <a:ext cx="3749040" cy="384048"/>
          </a:xfrm>
          <a:prstGeom prst="rect">
            <a:avLst/>
          </a:prstGeom>
          <a:noFill/>
          <a:ln/>
        </p:spPr>
        <p:txBody>
          <a:bodyPr wrap="square" lIns="254" tIns="254" rIns="254" bIns="254" rtlCol="0" anchor="ctr">
            <a:normAutofit/>
          </a:bodyPr>
          <a:lstStyle/>
          <a:p>
            <a:pPr algn="l" indent="0" marL="0">
              <a:buNone/>
            </a:pPr>
            <a:r>
              <a:rPr lang="en-US" sz="1300" dirty="0">
                <a:solidFill>
                  <a:srgbClr val="667085"/>
                </a:solidFill>
                <a:latin typeface="Aptos" pitchFamily="34" charset="0"/>
                <a:ea typeface="Aptos" pitchFamily="34" charset="-122"/>
                <a:cs typeface="Aptos" pitchFamily="34" charset="-120"/>
              </a:rPr>
              <a:t>Snapshots, logs, reportes y acciones se consultan como documentos trazables.</a:t>
            </a:r>
            <a:endParaRPr lang="en-US" sz="1300" dirty="0"/>
          </a:p>
        </p:txBody>
      </p:sp>
      <p:sp>
        <p:nvSpPr>
          <p:cNvPr id="23" name="Text 21"/>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09</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SQL engineering visible</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sp>
        <p:nvSpPr>
          <p:cNvPr id="6" name="Shape 4"/>
          <p:cNvSpPr/>
          <p:nvPr/>
        </p:nvSpPr>
        <p:spPr>
          <a:xfrm>
            <a:off x="822960" y="1783080"/>
            <a:ext cx="4434840" cy="914400"/>
          </a:xfrm>
          <a:prstGeom prst="roundRect">
            <a:avLst>
              <a:gd name="adj" fmla="val 8000"/>
            </a:avLst>
          </a:prstGeom>
          <a:solidFill>
            <a:srgbClr val="FFFFFF"/>
          </a:solidFill>
          <a:ln w="12700">
            <a:solidFill>
              <a:srgbClr val="D9DEE8"/>
            </a:solidFill>
            <a:prstDash val="solid"/>
          </a:ln>
        </p:spPr>
      </p:sp>
      <p:sp>
        <p:nvSpPr>
          <p:cNvPr id="7" name="Text 5"/>
          <p:cNvSpPr/>
          <p:nvPr/>
        </p:nvSpPr>
        <p:spPr>
          <a:xfrm>
            <a:off x="1042416" y="1947672"/>
            <a:ext cx="2011680" cy="201168"/>
          </a:xfrm>
          <a:prstGeom prst="rect">
            <a:avLst/>
          </a:prstGeom>
          <a:noFill/>
          <a:ln/>
        </p:spPr>
        <p:txBody>
          <a:bodyPr wrap="square" lIns="254" tIns="254" rIns="254" bIns="254" rtlCol="0" anchor="ctr">
            <a:normAutofit/>
          </a:bodyPr>
          <a:lstStyle/>
          <a:p>
            <a:pPr algn="l" indent="0" marL="0">
              <a:buNone/>
            </a:pPr>
            <a:r>
              <a:rPr lang="en-US" sz="1500" b="1" dirty="0">
                <a:solidFill>
                  <a:srgbClr val="153E75"/>
                </a:solidFill>
                <a:latin typeface="Aptos" pitchFamily="34" charset="0"/>
                <a:ea typeface="Aptos" pitchFamily="34" charset="-122"/>
                <a:cs typeface="Aptos" pitchFamily="34" charset="-120"/>
              </a:rPr>
              <a:t>Triggers</a:t>
            </a:r>
            <a:endParaRPr lang="en-US" sz="1500" dirty="0"/>
          </a:p>
        </p:txBody>
      </p:sp>
      <p:sp>
        <p:nvSpPr>
          <p:cNvPr id="8" name="Text 6"/>
          <p:cNvSpPr/>
          <p:nvPr/>
        </p:nvSpPr>
        <p:spPr>
          <a:xfrm>
            <a:off x="1042416" y="2286000"/>
            <a:ext cx="3291840" cy="182880"/>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audit_log, historial, updated_at</a:t>
            </a:r>
            <a:endParaRPr lang="en-US" sz="1000" dirty="0"/>
          </a:p>
        </p:txBody>
      </p:sp>
      <p:sp>
        <p:nvSpPr>
          <p:cNvPr id="9" name="Shape 7"/>
          <p:cNvSpPr/>
          <p:nvPr/>
        </p:nvSpPr>
        <p:spPr>
          <a:xfrm>
            <a:off x="6172200" y="1783080"/>
            <a:ext cx="4434840" cy="914400"/>
          </a:xfrm>
          <a:prstGeom prst="roundRect">
            <a:avLst>
              <a:gd name="adj" fmla="val 8000"/>
            </a:avLst>
          </a:prstGeom>
          <a:solidFill>
            <a:srgbClr val="FFFFFF"/>
          </a:solidFill>
          <a:ln w="12700">
            <a:solidFill>
              <a:srgbClr val="D9DEE8"/>
            </a:solidFill>
            <a:prstDash val="solid"/>
          </a:ln>
        </p:spPr>
      </p:sp>
      <p:sp>
        <p:nvSpPr>
          <p:cNvPr id="10" name="Text 8"/>
          <p:cNvSpPr/>
          <p:nvPr/>
        </p:nvSpPr>
        <p:spPr>
          <a:xfrm>
            <a:off x="6391656" y="1947672"/>
            <a:ext cx="2011680" cy="201168"/>
          </a:xfrm>
          <a:prstGeom prst="rect">
            <a:avLst/>
          </a:prstGeom>
          <a:noFill/>
          <a:ln/>
        </p:spPr>
        <p:txBody>
          <a:bodyPr wrap="square" lIns="254" tIns="254" rIns="254" bIns="254" rtlCol="0" anchor="ctr">
            <a:normAutofit/>
          </a:bodyPr>
          <a:lstStyle/>
          <a:p>
            <a:pPr algn="l" indent="0" marL="0">
              <a:buNone/>
            </a:pPr>
            <a:r>
              <a:rPr lang="en-US" sz="1500" b="1" dirty="0">
                <a:solidFill>
                  <a:srgbClr val="153E75"/>
                </a:solidFill>
                <a:latin typeface="Aptos" pitchFamily="34" charset="0"/>
                <a:ea typeface="Aptos" pitchFamily="34" charset="-122"/>
                <a:cs typeface="Aptos" pitchFamily="34" charset="-120"/>
              </a:rPr>
              <a:t>Window functions</a:t>
            </a:r>
            <a:endParaRPr lang="en-US" sz="1500" dirty="0"/>
          </a:p>
        </p:txBody>
      </p:sp>
      <p:sp>
        <p:nvSpPr>
          <p:cNvPr id="11" name="Text 9"/>
          <p:cNvSpPr/>
          <p:nvPr/>
        </p:nvSpPr>
        <p:spPr>
          <a:xfrm>
            <a:off x="6391656" y="2286000"/>
            <a:ext cx="3291840" cy="182880"/>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concentracion y outliers</a:t>
            </a:r>
            <a:endParaRPr lang="en-US" sz="1000" dirty="0"/>
          </a:p>
        </p:txBody>
      </p:sp>
      <p:sp>
        <p:nvSpPr>
          <p:cNvPr id="12" name="Shape 10"/>
          <p:cNvSpPr/>
          <p:nvPr/>
        </p:nvSpPr>
        <p:spPr>
          <a:xfrm>
            <a:off x="822960" y="3200400"/>
            <a:ext cx="4434840" cy="914400"/>
          </a:xfrm>
          <a:prstGeom prst="roundRect">
            <a:avLst>
              <a:gd name="adj" fmla="val 8000"/>
            </a:avLst>
          </a:prstGeom>
          <a:solidFill>
            <a:srgbClr val="FFFFFF"/>
          </a:solidFill>
          <a:ln w="12700">
            <a:solidFill>
              <a:srgbClr val="D9DEE8"/>
            </a:solidFill>
            <a:prstDash val="solid"/>
          </a:ln>
        </p:spPr>
      </p:sp>
      <p:sp>
        <p:nvSpPr>
          <p:cNvPr id="13" name="Text 11"/>
          <p:cNvSpPr/>
          <p:nvPr/>
        </p:nvSpPr>
        <p:spPr>
          <a:xfrm>
            <a:off x="1042416" y="3364992"/>
            <a:ext cx="2011680" cy="201168"/>
          </a:xfrm>
          <a:prstGeom prst="rect">
            <a:avLst/>
          </a:prstGeom>
          <a:noFill/>
          <a:ln/>
        </p:spPr>
        <p:txBody>
          <a:bodyPr wrap="square" lIns="254" tIns="254" rIns="254" bIns="254" rtlCol="0" anchor="ctr">
            <a:normAutofit/>
          </a:bodyPr>
          <a:lstStyle/>
          <a:p>
            <a:pPr algn="l" indent="0" marL="0">
              <a:buNone/>
            </a:pPr>
            <a:r>
              <a:rPr lang="en-US" sz="1500" b="1" dirty="0">
                <a:solidFill>
                  <a:srgbClr val="153E75"/>
                </a:solidFill>
                <a:latin typeface="Aptos" pitchFamily="34" charset="0"/>
                <a:ea typeface="Aptos" pitchFamily="34" charset="-122"/>
                <a:cs typeface="Aptos" pitchFamily="34" charset="-120"/>
              </a:rPr>
              <a:t>CTE recursiva</a:t>
            </a:r>
            <a:endParaRPr lang="en-US" sz="1500" dirty="0"/>
          </a:p>
        </p:txBody>
      </p:sp>
      <p:sp>
        <p:nvSpPr>
          <p:cNvPr id="14" name="Text 12"/>
          <p:cNvSpPr/>
          <p:nvPr/>
        </p:nvSpPr>
        <p:spPr>
          <a:xfrm>
            <a:off x="1042416" y="3703320"/>
            <a:ext cx="3291840" cy="182880"/>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jerarquia territorial</a:t>
            </a:r>
            <a:endParaRPr lang="en-US" sz="1000" dirty="0"/>
          </a:p>
        </p:txBody>
      </p:sp>
      <p:sp>
        <p:nvSpPr>
          <p:cNvPr id="15" name="Shape 13"/>
          <p:cNvSpPr/>
          <p:nvPr/>
        </p:nvSpPr>
        <p:spPr>
          <a:xfrm>
            <a:off x="6172200" y="3200400"/>
            <a:ext cx="4434840" cy="914400"/>
          </a:xfrm>
          <a:prstGeom prst="roundRect">
            <a:avLst>
              <a:gd name="adj" fmla="val 8000"/>
            </a:avLst>
          </a:prstGeom>
          <a:solidFill>
            <a:srgbClr val="FFFFFF"/>
          </a:solidFill>
          <a:ln w="12700">
            <a:solidFill>
              <a:srgbClr val="D9DEE8"/>
            </a:solidFill>
            <a:prstDash val="solid"/>
          </a:ln>
        </p:spPr>
      </p:sp>
      <p:sp>
        <p:nvSpPr>
          <p:cNvPr id="16" name="Text 14"/>
          <p:cNvSpPr/>
          <p:nvPr/>
        </p:nvSpPr>
        <p:spPr>
          <a:xfrm>
            <a:off x="6391656" y="3364992"/>
            <a:ext cx="2011680" cy="201168"/>
          </a:xfrm>
          <a:prstGeom prst="rect">
            <a:avLst/>
          </a:prstGeom>
          <a:noFill/>
          <a:ln/>
        </p:spPr>
        <p:txBody>
          <a:bodyPr wrap="square" lIns="254" tIns="254" rIns="254" bIns="254" rtlCol="0" anchor="ctr">
            <a:normAutofit/>
          </a:bodyPr>
          <a:lstStyle/>
          <a:p>
            <a:pPr algn="l" indent="0" marL="0">
              <a:buNone/>
            </a:pPr>
            <a:r>
              <a:rPr lang="en-US" sz="1500" b="1" dirty="0">
                <a:solidFill>
                  <a:srgbClr val="153E75"/>
                </a:solidFill>
                <a:latin typeface="Aptos" pitchFamily="34" charset="0"/>
                <a:ea typeface="Aptos" pitchFamily="34" charset="-122"/>
                <a:cs typeface="Aptos" pitchFamily="34" charset="-120"/>
              </a:rPr>
              <a:t>Transacciones</a:t>
            </a:r>
            <a:endParaRPr lang="en-US" sz="1500" dirty="0"/>
          </a:p>
        </p:txBody>
      </p:sp>
      <p:sp>
        <p:nvSpPr>
          <p:cNvPr id="17" name="Text 15"/>
          <p:cNvSpPr/>
          <p:nvPr/>
        </p:nvSpPr>
        <p:spPr>
          <a:xfrm>
            <a:off x="6391656" y="3703320"/>
            <a:ext cx="3291840" cy="182880"/>
          </a:xfrm>
          <a:prstGeom prst="rect">
            <a:avLst/>
          </a:prstGeom>
          <a:noFill/>
          <a:ln/>
        </p:spPr>
        <p:txBody>
          <a:bodyPr wrap="square" lIns="254" tIns="254" rIns="254" bIns="254" rtlCol="0" anchor="ctr">
            <a:normAutofit/>
          </a:bodyPr>
          <a:lstStyle/>
          <a:p>
            <a:pPr algn="l" indent="0" marL="0">
              <a:buNone/>
            </a:pPr>
            <a:r>
              <a:rPr lang="en-US" sz="1000" dirty="0">
                <a:solidFill>
                  <a:srgbClr val="667085"/>
                </a:solidFill>
                <a:latin typeface="Aptos" pitchFamily="34" charset="0"/>
                <a:ea typeface="Aptos" pitchFamily="34" charset="-122"/>
                <a:cs typeface="Aptos" pitchFamily="34" charset="-120"/>
              </a:rPr>
              <a:t>score + evento atomico</a:t>
            </a:r>
            <a:endParaRPr lang="en-US" sz="1000" dirty="0"/>
          </a:p>
        </p:txBody>
      </p:sp>
      <p:sp>
        <p:nvSpPr>
          <p:cNvPr id="18" name="Text 16"/>
          <p:cNvSpPr/>
          <p:nvPr/>
        </p:nvSpPr>
        <p:spPr>
          <a:xfrm>
            <a:off x="914400" y="5074920"/>
            <a:ext cx="9966960" cy="365760"/>
          </a:xfrm>
          <a:prstGeom prst="rect">
            <a:avLst/>
          </a:prstGeom>
          <a:noFill/>
          <a:ln/>
        </p:spPr>
        <p:txBody>
          <a:bodyPr wrap="square" lIns="254" tIns="254" rIns="254" bIns="254" rtlCol="0" anchor="ctr">
            <a:normAutofit/>
          </a:bodyPr>
          <a:lstStyle/>
          <a:p>
            <a:pPr algn="l" indent="0" marL="0">
              <a:buNone/>
            </a:pPr>
            <a:r>
              <a:rPr lang="en-US" sz="1800" b="1" dirty="0">
                <a:solidFill>
                  <a:srgbClr val="263241"/>
                </a:solidFill>
                <a:latin typeface="Aptos" pitchFamily="34" charset="0"/>
                <a:ea typeface="Aptos" pitchFamily="34" charset="-122"/>
                <a:cs typeface="Aptos" pitchFamily="34" charset="-120"/>
              </a:rPr>
              <a:t>No es solo almacenamiento: hay integridad, trazabilidad y consultas analiticas reproducibles.</a:t>
            </a:r>
            <a:endParaRPr lang="en-US" sz="1800" dirty="0"/>
          </a:p>
        </p:txBody>
      </p:sp>
      <p:sp>
        <p:nvSpPr>
          <p:cNvPr id="19" name="Text 17"/>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10</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Score explicable, no veredicto</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sp>
        <p:nvSpPr>
          <p:cNvPr id="6" name="Shape 4"/>
          <p:cNvSpPr/>
          <p:nvPr/>
        </p:nvSpPr>
        <p:spPr>
          <a:xfrm>
            <a:off x="777240" y="1901952"/>
            <a:ext cx="1737360" cy="1188720"/>
          </a:xfrm>
          <a:prstGeom prst="roundRect">
            <a:avLst>
              <a:gd name="adj" fmla="val 7692"/>
            </a:avLst>
          </a:prstGeom>
          <a:solidFill>
            <a:srgbClr val="EAF1FB"/>
          </a:solidFill>
          <a:ln w="12700">
            <a:solidFill>
              <a:srgbClr val="275DA8"/>
            </a:solidFill>
            <a:prstDash val="solid"/>
          </a:ln>
        </p:spPr>
      </p:sp>
      <p:sp>
        <p:nvSpPr>
          <p:cNvPr id="7" name="Text 5"/>
          <p:cNvSpPr/>
          <p:nvPr/>
        </p:nvSpPr>
        <p:spPr>
          <a:xfrm>
            <a:off x="923544" y="2157984"/>
            <a:ext cx="1417320" cy="219456"/>
          </a:xfrm>
          <a:prstGeom prst="rect">
            <a:avLst/>
          </a:prstGeom>
          <a:noFill/>
          <a:ln/>
        </p:spPr>
        <p:txBody>
          <a:bodyPr wrap="square" lIns="254" tIns="254" rIns="254" bIns="254" rtlCol="0" anchor="ctr">
            <a:normAutofit/>
          </a:bodyPr>
          <a:lstStyle/>
          <a:p>
            <a:pPr algn="ctr" indent="0" marL="0">
              <a:buNone/>
            </a:pPr>
            <a:r>
              <a:rPr lang="en-US" sz="1300" b="1" dirty="0">
                <a:solidFill>
                  <a:srgbClr val="153E75"/>
                </a:solidFill>
                <a:latin typeface="Aptos" pitchFamily="34" charset="0"/>
                <a:ea typeface="Aptos" pitchFamily="34" charset="-122"/>
                <a:cs typeface="Aptos" pitchFamily="34" charset="-120"/>
              </a:rPr>
              <a:t>Reglas</a:t>
            </a:r>
            <a:endParaRPr lang="en-US" sz="1300" dirty="0"/>
          </a:p>
        </p:txBody>
      </p:sp>
      <p:sp>
        <p:nvSpPr>
          <p:cNvPr id="8" name="Text 6"/>
          <p:cNvSpPr/>
          <p:nvPr/>
        </p:nvSpPr>
        <p:spPr>
          <a:xfrm>
            <a:off x="923544" y="2542032"/>
            <a:ext cx="1417320" cy="164592"/>
          </a:xfrm>
          <a:prstGeom prst="rect">
            <a:avLst/>
          </a:prstGeom>
          <a:noFill/>
          <a:ln/>
        </p:spPr>
        <p:txBody>
          <a:bodyPr wrap="square" lIns="254" tIns="254" rIns="254" bIns="254" rtlCol="0" anchor="ctr">
            <a:normAutofit/>
          </a:bodyPr>
          <a:lstStyle/>
          <a:p>
            <a:pPr algn="ctr" indent="0" marL="0">
              <a:buNone/>
            </a:pPr>
            <a:r>
              <a:rPr lang="en-US" sz="850" dirty="0">
                <a:solidFill>
                  <a:srgbClr val="667085"/>
                </a:solidFill>
                <a:latin typeface="Aptos" pitchFamily="34" charset="0"/>
                <a:ea typeface="Aptos" pitchFamily="34" charset="-122"/>
                <a:cs typeface="Aptos" pitchFamily="34" charset="-120"/>
              </a:rPr>
              <a:t>senales auditables</a:t>
            </a:r>
            <a:endParaRPr lang="en-US" sz="850" dirty="0"/>
          </a:p>
        </p:txBody>
      </p:sp>
      <p:sp>
        <p:nvSpPr>
          <p:cNvPr id="9" name="Shape 7"/>
          <p:cNvSpPr/>
          <p:nvPr/>
        </p:nvSpPr>
        <p:spPr>
          <a:xfrm>
            <a:off x="2990088" y="1901952"/>
            <a:ext cx="1737360" cy="1188720"/>
          </a:xfrm>
          <a:prstGeom prst="roundRect">
            <a:avLst>
              <a:gd name="adj" fmla="val 7692"/>
            </a:avLst>
          </a:prstGeom>
          <a:solidFill>
            <a:srgbClr val="FFFFFF"/>
          </a:solidFill>
          <a:ln w="12700">
            <a:solidFill>
              <a:srgbClr val="D9DEE8"/>
            </a:solidFill>
            <a:prstDash val="solid"/>
          </a:ln>
        </p:spPr>
      </p:sp>
      <p:sp>
        <p:nvSpPr>
          <p:cNvPr id="10" name="Text 8"/>
          <p:cNvSpPr/>
          <p:nvPr/>
        </p:nvSpPr>
        <p:spPr>
          <a:xfrm>
            <a:off x="3136392" y="2157984"/>
            <a:ext cx="1417320" cy="219456"/>
          </a:xfrm>
          <a:prstGeom prst="rect">
            <a:avLst/>
          </a:prstGeom>
          <a:noFill/>
          <a:ln/>
        </p:spPr>
        <p:txBody>
          <a:bodyPr wrap="square" lIns="254" tIns="254" rIns="254" bIns="254" rtlCol="0" anchor="ctr">
            <a:normAutofit/>
          </a:bodyPr>
          <a:lstStyle/>
          <a:p>
            <a:pPr algn="ctr" indent="0" marL="0">
              <a:buNone/>
            </a:pPr>
            <a:r>
              <a:rPr lang="en-US" sz="1300" b="1" dirty="0">
                <a:solidFill>
                  <a:srgbClr val="153E75"/>
                </a:solidFill>
                <a:latin typeface="Aptos" pitchFamily="34" charset="0"/>
                <a:ea typeface="Aptos" pitchFamily="34" charset="-122"/>
                <a:cs typeface="Aptos" pitchFamily="34" charset="-120"/>
              </a:rPr>
              <a:t>Pares</a:t>
            </a:r>
            <a:endParaRPr lang="en-US" sz="1300" dirty="0"/>
          </a:p>
        </p:txBody>
      </p:sp>
      <p:sp>
        <p:nvSpPr>
          <p:cNvPr id="11" name="Text 9"/>
          <p:cNvSpPr/>
          <p:nvPr/>
        </p:nvSpPr>
        <p:spPr>
          <a:xfrm>
            <a:off x="3136392" y="2542032"/>
            <a:ext cx="1417320" cy="164592"/>
          </a:xfrm>
          <a:prstGeom prst="rect">
            <a:avLst/>
          </a:prstGeom>
          <a:noFill/>
          <a:ln/>
        </p:spPr>
        <p:txBody>
          <a:bodyPr wrap="square" lIns="254" tIns="254" rIns="254" bIns="254" rtlCol="0" anchor="ctr">
            <a:normAutofit/>
          </a:bodyPr>
          <a:lstStyle/>
          <a:p>
            <a:pPr algn="ctr" indent="0" marL="0">
              <a:buNone/>
            </a:pPr>
            <a:r>
              <a:rPr lang="en-US" sz="850" dirty="0">
                <a:solidFill>
                  <a:srgbClr val="667085"/>
                </a:solidFill>
                <a:latin typeface="Aptos" pitchFamily="34" charset="0"/>
                <a:ea typeface="Aptos" pitchFamily="34" charset="-122"/>
                <a:cs typeface="Aptos" pitchFamily="34" charset="-120"/>
              </a:rPr>
              <a:t>desviacion contextual</a:t>
            </a:r>
            <a:endParaRPr lang="en-US" sz="850" dirty="0"/>
          </a:p>
        </p:txBody>
      </p:sp>
      <p:sp>
        <p:nvSpPr>
          <p:cNvPr id="12" name="Shape 10"/>
          <p:cNvSpPr/>
          <p:nvPr/>
        </p:nvSpPr>
        <p:spPr>
          <a:xfrm>
            <a:off x="5202936" y="1901952"/>
            <a:ext cx="1737360" cy="1188720"/>
          </a:xfrm>
          <a:prstGeom prst="roundRect">
            <a:avLst>
              <a:gd name="adj" fmla="val 7692"/>
            </a:avLst>
          </a:prstGeom>
          <a:solidFill>
            <a:srgbClr val="FFFFFF"/>
          </a:solidFill>
          <a:ln w="12700">
            <a:solidFill>
              <a:srgbClr val="D9DEE8"/>
            </a:solidFill>
            <a:prstDash val="solid"/>
          </a:ln>
        </p:spPr>
      </p:sp>
      <p:sp>
        <p:nvSpPr>
          <p:cNvPr id="13" name="Text 11"/>
          <p:cNvSpPr/>
          <p:nvPr/>
        </p:nvSpPr>
        <p:spPr>
          <a:xfrm>
            <a:off x="5349240" y="2157984"/>
            <a:ext cx="1417320" cy="219456"/>
          </a:xfrm>
          <a:prstGeom prst="rect">
            <a:avLst/>
          </a:prstGeom>
          <a:noFill/>
          <a:ln/>
        </p:spPr>
        <p:txBody>
          <a:bodyPr wrap="square" lIns="254" tIns="254" rIns="254" bIns="254" rtlCol="0" anchor="ctr">
            <a:normAutofit/>
          </a:bodyPr>
          <a:lstStyle/>
          <a:p>
            <a:pPr algn="ctr" indent="0" marL="0">
              <a:buNone/>
            </a:pPr>
            <a:r>
              <a:rPr lang="en-US" sz="1300" b="1" dirty="0">
                <a:solidFill>
                  <a:srgbClr val="153E75"/>
                </a:solidFill>
                <a:latin typeface="Aptos" pitchFamily="34" charset="0"/>
                <a:ea typeface="Aptos" pitchFamily="34" charset="-122"/>
                <a:cs typeface="Aptos" pitchFamily="34" charset="-120"/>
              </a:rPr>
              <a:t>Anomalia</a:t>
            </a:r>
            <a:endParaRPr lang="en-US" sz="1300" dirty="0"/>
          </a:p>
        </p:txBody>
      </p:sp>
      <p:sp>
        <p:nvSpPr>
          <p:cNvPr id="14" name="Text 12"/>
          <p:cNvSpPr/>
          <p:nvPr/>
        </p:nvSpPr>
        <p:spPr>
          <a:xfrm>
            <a:off x="5349240" y="2542032"/>
            <a:ext cx="1417320" cy="164592"/>
          </a:xfrm>
          <a:prstGeom prst="rect">
            <a:avLst/>
          </a:prstGeom>
          <a:noFill/>
          <a:ln/>
        </p:spPr>
        <p:txBody>
          <a:bodyPr wrap="square" lIns="254" tIns="254" rIns="254" bIns="254" rtlCol="0" anchor="ctr">
            <a:normAutofit/>
          </a:bodyPr>
          <a:lstStyle/>
          <a:p>
            <a:pPr algn="ctr" indent="0" marL="0">
              <a:buNone/>
            </a:pPr>
            <a:r>
              <a:rPr lang="en-US" sz="850" dirty="0">
                <a:solidFill>
                  <a:srgbClr val="667085"/>
                </a:solidFill>
                <a:latin typeface="Aptos" pitchFamily="34" charset="0"/>
                <a:ea typeface="Aptos" pitchFamily="34" charset="-122"/>
                <a:cs typeface="Aptos" pitchFamily="34" charset="-120"/>
              </a:rPr>
              <a:t>apoyo interpretable</a:t>
            </a:r>
            <a:endParaRPr lang="en-US" sz="850" dirty="0"/>
          </a:p>
        </p:txBody>
      </p:sp>
      <p:sp>
        <p:nvSpPr>
          <p:cNvPr id="15" name="Shape 13"/>
          <p:cNvSpPr/>
          <p:nvPr/>
        </p:nvSpPr>
        <p:spPr>
          <a:xfrm>
            <a:off x="7415784" y="1901952"/>
            <a:ext cx="1737360" cy="1188720"/>
          </a:xfrm>
          <a:prstGeom prst="roundRect">
            <a:avLst>
              <a:gd name="adj" fmla="val 7692"/>
            </a:avLst>
          </a:prstGeom>
          <a:solidFill>
            <a:srgbClr val="FFFFFF"/>
          </a:solidFill>
          <a:ln w="12700">
            <a:solidFill>
              <a:srgbClr val="D9DEE8"/>
            </a:solidFill>
            <a:prstDash val="solid"/>
          </a:ln>
        </p:spPr>
      </p:sp>
      <p:sp>
        <p:nvSpPr>
          <p:cNvPr id="16" name="Text 14"/>
          <p:cNvSpPr/>
          <p:nvPr/>
        </p:nvSpPr>
        <p:spPr>
          <a:xfrm>
            <a:off x="7562088" y="2157984"/>
            <a:ext cx="1417320" cy="219456"/>
          </a:xfrm>
          <a:prstGeom prst="rect">
            <a:avLst/>
          </a:prstGeom>
          <a:noFill/>
          <a:ln/>
        </p:spPr>
        <p:txBody>
          <a:bodyPr wrap="square" lIns="254" tIns="254" rIns="254" bIns="254" rtlCol="0" anchor="ctr">
            <a:normAutofit/>
          </a:bodyPr>
          <a:lstStyle/>
          <a:p>
            <a:pPr algn="ctr" indent="0" marL="0">
              <a:buNone/>
            </a:pPr>
            <a:r>
              <a:rPr lang="en-US" sz="1300" b="1" dirty="0">
                <a:solidFill>
                  <a:srgbClr val="153E75"/>
                </a:solidFill>
                <a:latin typeface="Aptos" pitchFamily="34" charset="0"/>
                <a:ea typeface="Aptos" pitchFamily="34" charset="-122"/>
                <a:cs typeface="Aptos" pitchFamily="34" charset="-120"/>
              </a:rPr>
              <a:t>Confianza</a:t>
            </a:r>
            <a:endParaRPr lang="en-US" sz="1300" dirty="0"/>
          </a:p>
        </p:txBody>
      </p:sp>
      <p:sp>
        <p:nvSpPr>
          <p:cNvPr id="17" name="Text 15"/>
          <p:cNvSpPr/>
          <p:nvPr/>
        </p:nvSpPr>
        <p:spPr>
          <a:xfrm>
            <a:off x="7562088" y="2542032"/>
            <a:ext cx="1417320" cy="164592"/>
          </a:xfrm>
          <a:prstGeom prst="rect">
            <a:avLst/>
          </a:prstGeom>
          <a:noFill/>
          <a:ln/>
        </p:spPr>
        <p:txBody>
          <a:bodyPr wrap="square" lIns="254" tIns="254" rIns="254" bIns="254" rtlCol="0" anchor="ctr">
            <a:normAutofit/>
          </a:bodyPr>
          <a:lstStyle/>
          <a:p>
            <a:pPr algn="ctr" indent="0" marL="0">
              <a:buNone/>
            </a:pPr>
            <a:r>
              <a:rPr lang="en-US" sz="850" dirty="0">
                <a:solidFill>
                  <a:srgbClr val="667085"/>
                </a:solidFill>
                <a:latin typeface="Aptos" pitchFamily="34" charset="0"/>
                <a:ea typeface="Aptos" pitchFamily="34" charset="-122"/>
                <a:cs typeface="Aptos" pitchFamily="34" charset="-120"/>
              </a:rPr>
              <a:t>calidad y cobertura</a:t>
            </a:r>
            <a:endParaRPr lang="en-US" sz="850" dirty="0"/>
          </a:p>
        </p:txBody>
      </p:sp>
      <p:sp>
        <p:nvSpPr>
          <p:cNvPr id="18" name="Shape 16"/>
          <p:cNvSpPr/>
          <p:nvPr/>
        </p:nvSpPr>
        <p:spPr>
          <a:xfrm>
            <a:off x="9628632" y="1901952"/>
            <a:ext cx="1737360" cy="1188720"/>
          </a:xfrm>
          <a:prstGeom prst="roundRect">
            <a:avLst>
              <a:gd name="adj" fmla="val 7692"/>
            </a:avLst>
          </a:prstGeom>
          <a:solidFill>
            <a:srgbClr val="FFFFFF"/>
          </a:solidFill>
          <a:ln w="12700">
            <a:solidFill>
              <a:srgbClr val="D9DEE8"/>
            </a:solidFill>
            <a:prstDash val="solid"/>
          </a:ln>
        </p:spPr>
      </p:sp>
      <p:sp>
        <p:nvSpPr>
          <p:cNvPr id="19" name="Text 17"/>
          <p:cNvSpPr/>
          <p:nvPr/>
        </p:nvSpPr>
        <p:spPr>
          <a:xfrm>
            <a:off x="9774936" y="2157984"/>
            <a:ext cx="1417320" cy="219456"/>
          </a:xfrm>
          <a:prstGeom prst="rect">
            <a:avLst/>
          </a:prstGeom>
          <a:noFill/>
          <a:ln/>
        </p:spPr>
        <p:txBody>
          <a:bodyPr wrap="square" lIns="254" tIns="254" rIns="254" bIns="254" rtlCol="0" anchor="ctr">
            <a:normAutofit/>
          </a:bodyPr>
          <a:lstStyle/>
          <a:p>
            <a:pPr algn="ctr" indent="0" marL="0">
              <a:buNone/>
            </a:pPr>
            <a:r>
              <a:rPr lang="en-US" sz="1300" b="1" dirty="0">
                <a:solidFill>
                  <a:srgbClr val="153E75"/>
                </a:solidFill>
                <a:latin typeface="Aptos" pitchFamily="34" charset="0"/>
                <a:ea typeface="Aptos" pitchFamily="34" charset="-122"/>
                <a:cs typeface="Aptos" pitchFamily="34" charset="-120"/>
              </a:rPr>
              <a:t>Razones</a:t>
            </a:r>
            <a:endParaRPr lang="en-US" sz="1300" dirty="0"/>
          </a:p>
        </p:txBody>
      </p:sp>
      <p:sp>
        <p:nvSpPr>
          <p:cNvPr id="20" name="Text 18"/>
          <p:cNvSpPr/>
          <p:nvPr/>
        </p:nvSpPr>
        <p:spPr>
          <a:xfrm>
            <a:off x="9774936" y="2542032"/>
            <a:ext cx="1417320" cy="164592"/>
          </a:xfrm>
          <a:prstGeom prst="rect">
            <a:avLst/>
          </a:prstGeom>
          <a:noFill/>
          <a:ln/>
        </p:spPr>
        <p:txBody>
          <a:bodyPr wrap="square" lIns="254" tIns="254" rIns="254" bIns="254" rtlCol="0" anchor="ctr">
            <a:normAutofit/>
          </a:bodyPr>
          <a:lstStyle/>
          <a:p>
            <a:pPr algn="ctr" indent="0" marL="0">
              <a:buNone/>
            </a:pPr>
            <a:r>
              <a:rPr lang="en-US" sz="850" dirty="0">
                <a:solidFill>
                  <a:srgbClr val="667085"/>
                </a:solidFill>
                <a:latin typeface="Aptos" pitchFamily="34" charset="0"/>
                <a:ea typeface="Aptos" pitchFamily="34" charset="-122"/>
                <a:cs typeface="Aptos" pitchFamily="34" charset="-120"/>
              </a:rPr>
              <a:t>texto trazable</a:t>
            </a:r>
            <a:endParaRPr lang="en-US" sz="850" dirty="0"/>
          </a:p>
        </p:txBody>
      </p:sp>
      <p:sp>
        <p:nvSpPr>
          <p:cNvPr id="21" name="Text 19"/>
          <p:cNvSpPr/>
          <p:nvPr/>
        </p:nvSpPr>
        <p:spPr>
          <a:xfrm>
            <a:off x="960120" y="4160520"/>
            <a:ext cx="8961120" cy="329184"/>
          </a:xfrm>
          <a:prstGeom prst="rect">
            <a:avLst/>
          </a:prstGeom>
          <a:noFill/>
          <a:ln/>
        </p:spPr>
        <p:txBody>
          <a:bodyPr wrap="square" lIns="254" tIns="254" rIns="254" bIns="254" rtlCol="0" anchor="ctr">
            <a:normAutofit/>
          </a:bodyPr>
          <a:lstStyle/>
          <a:p>
            <a:pPr algn="l" indent="0" marL="0">
              <a:buNone/>
            </a:pPr>
            <a:r>
              <a:rPr lang="en-US" sz="2000" b="1" dirty="0">
                <a:solidFill>
                  <a:srgbClr val="263241"/>
                </a:solidFill>
                <a:latin typeface="Aptos" pitchFamily="34" charset="0"/>
                <a:ea typeface="Aptos" pitchFamily="34" charset="-122"/>
                <a:cs typeface="Aptos" pitchFamily="34" charset="-120"/>
              </a:rPr>
              <a:t>Salida: score de prioridad + confianza + razones + comparables.</a:t>
            </a:r>
            <a:endParaRPr lang="en-US" sz="2000" dirty="0"/>
          </a:p>
        </p:txBody>
      </p:sp>
      <p:sp>
        <p:nvSpPr>
          <p:cNvPr id="22" name="Text 20"/>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11</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Demo: flujo de revision</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pic>
        <p:nvPicPr>
          <p:cNvPr id="6" name="Image 0" descr="/Users/thom/Desktop/IA colombia/secop-risk-alerts-co/slides/assets/screenshot_dashboard_home.png">    </p:cNvPr>
          <p:cNvPicPr>
            <a:picLocks noChangeAspect="1"/>
          </p:cNvPicPr>
          <p:nvPr/>
        </p:nvPicPr>
        <p:blipFill>
          <a:blip r:embed="rId1"/>
          <a:stretch>
            <a:fillRect/>
          </a:stretch>
        </p:blipFill>
        <p:spPr>
          <a:xfrm>
            <a:off x="685800" y="1508760"/>
            <a:ext cx="3474720" cy="2295144"/>
          </a:xfrm>
          <a:prstGeom prst="rect">
            <a:avLst/>
          </a:prstGeom>
        </p:spPr>
      </p:pic>
      <p:pic>
        <p:nvPicPr>
          <p:cNvPr id="7" name="Image 1" descr="/Users/thom/Desktop/IA colombia/secop-risk-alerts-co/slides/assets/screenshot_ranking.png">    </p:cNvPr>
          <p:cNvPicPr>
            <a:picLocks noChangeAspect="1"/>
          </p:cNvPicPr>
          <p:nvPr/>
        </p:nvPicPr>
        <p:blipFill>
          <a:blip r:embed="rId2"/>
          <a:stretch>
            <a:fillRect/>
          </a:stretch>
        </p:blipFill>
        <p:spPr>
          <a:xfrm>
            <a:off x="4343400" y="1508760"/>
            <a:ext cx="3474720" cy="2295144"/>
          </a:xfrm>
          <a:prstGeom prst="rect">
            <a:avLst/>
          </a:prstGeom>
        </p:spPr>
      </p:pic>
      <p:pic>
        <p:nvPicPr>
          <p:cNvPr id="8" name="Image 2" descr="/Users/thom/Desktop/IA colombia/secop-risk-alerts-co/slides/assets/screenshot_process_detail.png">    </p:cNvPr>
          <p:cNvPicPr>
            <a:picLocks noChangeAspect="1"/>
          </p:cNvPicPr>
          <p:nvPr/>
        </p:nvPicPr>
        <p:blipFill>
          <a:blip r:embed="rId3"/>
          <a:stretch>
            <a:fillRect/>
          </a:stretch>
        </p:blipFill>
        <p:spPr>
          <a:xfrm>
            <a:off x="8001000" y="1508760"/>
            <a:ext cx="3474720" cy="2295144"/>
          </a:xfrm>
          <a:prstGeom prst="rect">
            <a:avLst/>
          </a:prstGeom>
        </p:spPr>
      </p:pic>
      <p:sp>
        <p:nvSpPr>
          <p:cNvPr id="9" name="Text 4"/>
          <p:cNvSpPr/>
          <p:nvPr/>
        </p:nvSpPr>
        <p:spPr>
          <a:xfrm>
            <a:off x="749808" y="4069080"/>
            <a:ext cx="1828800" cy="201168"/>
          </a:xfrm>
          <a:prstGeom prst="rect">
            <a:avLst/>
          </a:prstGeom>
          <a:noFill/>
          <a:ln/>
        </p:spPr>
        <p:txBody>
          <a:bodyPr wrap="square" lIns="254" tIns="254" rIns="254" bIns="254" rtlCol="0" anchor="ctr">
            <a:normAutofit/>
          </a:bodyPr>
          <a:lstStyle/>
          <a:p>
            <a:pPr algn="l" indent="0" marL="0">
              <a:buNone/>
            </a:pPr>
            <a:r>
              <a:rPr lang="en-US" sz="1300" b="1" dirty="0">
                <a:solidFill>
                  <a:srgbClr val="153E75"/>
                </a:solidFill>
                <a:latin typeface="Aptos" pitchFamily="34" charset="0"/>
                <a:ea typeface="Aptos" pitchFamily="34" charset="-122"/>
                <a:cs typeface="Aptos" pitchFamily="34" charset="-120"/>
              </a:rPr>
              <a:t>1 Panorama</a:t>
            </a:r>
            <a:endParaRPr lang="en-US" sz="1300" dirty="0"/>
          </a:p>
        </p:txBody>
      </p:sp>
      <p:sp>
        <p:nvSpPr>
          <p:cNvPr id="10" name="Text 5"/>
          <p:cNvSpPr/>
          <p:nvPr/>
        </p:nvSpPr>
        <p:spPr>
          <a:xfrm>
            <a:off x="4407408" y="4069080"/>
            <a:ext cx="1828800" cy="201168"/>
          </a:xfrm>
          <a:prstGeom prst="rect">
            <a:avLst/>
          </a:prstGeom>
          <a:noFill/>
          <a:ln/>
        </p:spPr>
        <p:txBody>
          <a:bodyPr wrap="square" lIns="254" tIns="254" rIns="254" bIns="254" rtlCol="0" anchor="ctr">
            <a:normAutofit/>
          </a:bodyPr>
          <a:lstStyle/>
          <a:p>
            <a:pPr algn="l" indent="0" marL="0">
              <a:buNone/>
            </a:pPr>
            <a:r>
              <a:rPr lang="en-US" sz="1300" b="1" dirty="0">
                <a:solidFill>
                  <a:srgbClr val="153E75"/>
                </a:solidFill>
                <a:latin typeface="Aptos" pitchFamily="34" charset="0"/>
                <a:ea typeface="Aptos" pitchFamily="34" charset="-122"/>
                <a:cs typeface="Aptos" pitchFamily="34" charset="-120"/>
              </a:rPr>
              <a:t>2 Ranking</a:t>
            </a:r>
            <a:endParaRPr lang="en-US" sz="1300" dirty="0"/>
          </a:p>
        </p:txBody>
      </p:sp>
      <p:sp>
        <p:nvSpPr>
          <p:cNvPr id="11" name="Text 6"/>
          <p:cNvSpPr/>
          <p:nvPr/>
        </p:nvSpPr>
        <p:spPr>
          <a:xfrm>
            <a:off x="8065008" y="4069080"/>
            <a:ext cx="2560320" cy="201168"/>
          </a:xfrm>
          <a:prstGeom prst="rect">
            <a:avLst/>
          </a:prstGeom>
          <a:noFill/>
          <a:ln/>
        </p:spPr>
        <p:txBody>
          <a:bodyPr wrap="square" lIns="254" tIns="254" rIns="254" bIns="254" rtlCol="0" anchor="ctr">
            <a:normAutofit/>
          </a:bodyPr>
          <a:lstStyle/>
          <a:p>
            <a:pPr algn="l" indent="0" marL="0">
              <a:buNone/>
            </a:pPr>
            <a:r>
              <a:rPr lang="en-US" sz="1300" b="1" dirty="0">
                <a:solidFill>
                  <a:srgbClr val="153E75"/>
                </a:solidFill>
                <a:latin typeface="Aptos" pitchFamily="34" charset="0"/>
                <a:ea typeface="Aptos" pitchFamily="34" charset="-122"/>
                <a:cs typeface="Aptos" pitchFamily="34" charset="-120"/>
              </a:rPr>
              <a:t>3 Detalle y comparables</a:t>
            </a:r>
            <a:endParaRPr lang="en-US" sz="1300" dirty="0"/>
          </a:p>
        </p:txBody>
      </p:sp>
      <p:sp>
        <p:nvSpPr>
          <p:cNvPr id="12" name="Text 7"/>
          <p:cNvSpPr/>
          <p:nvPr/>
        </p:nvSpPr>
        <p:spPr>
          <a:xfrm>
            <a:off x="914400" y="5212080"/>
            <a:ext cx="9784080" cy="310896"/>
          </a:xfrm>
          <a:prstGeom prst="rect">
            <a:avLst/>
          </a:prstGeom>
          <a:noFill/>
          <a:ln/>
        </p:spPr>
        <p:txBody>
          <a:bodyPr wrap="square" lIns="254" tIns="254" rIns="254" bIns="254" rtlCol="0" anchor="ctr">
            <a:normAutofit/>
          </a:bodyPr>
          <a:lstStyle/>
          <a:p>
            <a:pPr algn="l" indent="0" marL="0">
              <a:buNone/>
            </a:pPr>
            <a:r>
              <a:rPr lang="en-US" sz="1700" b="1" dirty="0">
                <a:solidFill>
                  <a:srgbClr val="263241"/>
                </a:solidFill>
                <a:latin typeface="Aptos" pitchFamily="34" charset="0"/>
                <a:ea typeface="Aptos" pitchFamily="34" charset="-122"/>
                <a:cs typeface="Aptos" pitchFamily="34" charset="-120"/>
              </a:rPr>
              <a:t>El usuario entiende el universo, filtra candidatos y revisa evidencia trazable.</a:t>
            </a:r>
            <a:endParaRPr lang="en-US" sz="1700" dirty="0"/>
          </a:p>
        </p:txBody>
      </p:sp>
      <p:sp>
        <p:nvSpPr>
          <p:cNvPr id="13" name="Text 8"/>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47472"/>
            <a:ext cx="411480" cy="201168"/>
          </a:xfrm>
          <a:prstGeom prst="rect">
            <a:avLst/>
          </a:prstGeom>
          <a:noFill/>
          <a:ln/>
        </p:spPr>
        <p:txBody>
          <a:bodyPr wrap="square" lIns="254" tIns="254" rIns="254" bIns="254" rtlCol="0" anchor="ctr">
            <a:normAutofit/>
          </a:bodyPr>
          <a:lstStyle/>
          <a:p>
            <a:pPr algn="l" indent="0" marL="0">
              <a:buNone/>
            </a:pPr>
            <a:r>
              <a:rPr lang="en-US" sz="800" b="1" dirty="0">
                <a:solidFill>
                  <a:srgbClr val="275DA8"/>
                </a:solidFill>
                <a:latin typeface="Aptos" pitchFamily="34" charset="0"/>
                <a:ea typeface="Aptos" pitchFamily="34" charset="-122"/>
                <a:cs typeface="Aptos" pitchFamily="34" charset="-120"/>
              </a:rPr>
              <a:t>12</a:t>
            </a:r>
            <a:endParaRPr lang="en-US" sz="800" dirty="0"/>
          </a:p>
        </p:txBody>
      </p:sp>
      <p:sp>
        <p:nvSpPr>
          <p:cNvPr id="3" name="Text 1"/>
          <p:cNvSpPr/>
          <p:nvPr/>
        </p:nvSpPr>
        <p:spPr>
          <a:xfrm>
            <a:off x="960120" y="310896"/>
            <a:ext cx="2651760" cy="256032"/>
          </a:xfrm>
          <a:prstGeom prst="rect">
            <a:avLst/>
          </a:prstGeom>
          <a:noFill/>
          <a:ln/>
        </p:spPr>
        <p:txBody>
          <a:bodyPr wrap="square" lIns="254" tIns="254" rIns="254" bIns="254" rtlCol="0" anchor="ctr">
            <a:normAutofit/>
          </a:bodyPr>
          <a:lstStyle/>
          <a:p>
            <a:pPr algn="l" indent="0" marL="0">
              <a:buNone/>
            </a:pPr>
            <a:r>
              <a:rPr lang="en-US" sz="800" b="1" dirty="0">
                <a:solidFill>
                  <a:srgbClr val="667085"/>
                </a:solidFill>
                <a:latin typeface="Aptos" pitchFamily="34" charset="0"/>
                <a:ea typeface="Aptos" pitchFamily="34" charset="-122"/>
                <a:cs typeface="Aptos" pitchFamily="34" charset="-120"/>
              </a:rPr>
              <a:t>TRANSPARENCIA360</a:t>
            </a:r>
            <a:endParaRPr lang="en-US" sz="800" dirty="0"/>
          </a:p>
        </p:txBody>
      </p:sp>
      <p:sp>
        <p:nvSpPr>
          <p:cNvPr id="4" name="Text 2"/>
          <p:cNvSpPr/>
          <p:nvPr/>
        </p:nvSpPr>
        <p:spPr>
          <a:xfrm>
            <a:off x="502920" y="667512"/>
            <a:ext cx="8503920" cy="502920"/>
          </a:xfrm>
          <a:prstGeom prst="rect">
            <a:avLst/>
          </a:prstGeom>
          <a:noFill/>
          <a:ln/>
        </p:spPr>
        <p:txBody>
          <a:bodyPr wrap="square" lIns="254" tIns="254" rIns="254" bIns="254" rtlCol="0" anchor="ctr">
            <a:normAutofit/>
          </a:bodyPr>
          <a:lstStyle/>
          <a:p>
            <a:pPr algn="l" indent="0" marL="0">
              <a:buNone/>
            </a:pPr>
            <a:r>
              <a:rPr lang="en-US" sz="2500" b="1" dirty="0">
                <a:solidFill>
                  <a:srgbClr val="263241"/>
                </a:solidFill>
                <a:latin typeface="Aptos" pitchFamily="34" charset="0"/>
                <a:ea typeface="Aptos" pitchFamily="34" charset="-122"/>
                <a:cs typeface="Aptos" pitchFamily="34" charset="-120"/>
              </a:rPr>
              <a:t>Validacion, limites y siguiente paso</a:t>
            </a:r>
            <a:endParaRPr lang="en-US" sz="2500" dirty="0"/>
          </a:p>
        </p:txBody>
      </p:sp>
      <p:sp>
        <p:nvSpPr>
          <p:cNvPr id="5" name="Shape 3"/>
          <p:cNvSpPr/>
          <p:nvPr/>
        </p:nvSpPr>
        <p:spPr>
          <a:xfrm>
            <a:off x="502920" y="1243584"/>
            <a:ext cx="11109960" cy="0"/>
          </a:xfrm>
          <a:prstGeom prst="line">
            <a:avLst/>
          </a:prstGeom>
          <a:noFill/>
          <a:ln w="12700">
            <a:solidFill>
              <a:srgbClr val="D9DEE8"/>
            </a:solidFill>
            <a:prstDash val="solid"/>
          </a:ln>
        </p:spPr>
      </p:sp>
      <p:pic>
        <p:nvPicPr>
          <p:cNvPr id="6" name="Image 0" descr="/Users/thom/Desktop/IA colombia/secop-risk-alerts-co/slides/assets/validation_summary.png">    </p:cNvPr>
          <p:cNvPicPr>
            <a:picLocks noChangeAspect="1"/>
          </p:cNvPicPr>
          <p:nvPr/>
        </p:nvPicPr>
        <p:blipFill>
          <a:blip r:embed="rId1"/>
          <a:stretch>
            <a:fillRect/>
          </a:stretch>
        </p:blipFill>
        <p:spPr>
          <a:xfrm>
            <a:off x="777240" y="1572768"/>
            <a:ext cx="5394960" cy="3035808"/>
          </a:xfrm>
          <a:prstGeom prst="rect">
            <a:avLst/>
          </a:prstGeom>
        </p:spPr>
      </p:pic>
      <p:sp>
        <p:nvSpPr>
          <p:cNvPr id="7" name="Text 4"/>
          <p:cNvSpPr/>
          <p:nvPr/>
        </p:nvSpPr>
        <p:spPr>
          <a:xfrm>
            <a:off x="6720840" y="1737360"/>
            <a:ext cx="3566160" cy="365760"/>
          </a:xfrm>
          <a:prstGeom prst="rect">
            <a:avLst/>
          </a:prstGeom>
          <a:noFill/>
          <a:ln/>
        </p:spPr>
        <p:txBody>
          <a:bodyPr wrap="square" lIns="254" tIns="254" rIns="254" bIns="254" rtlCol="0" anchor="ctr">
            <a:normAutofit/>
          </a:bodyPr>
          <a:lstStyle/>
          <a:p>
            <a:pPr algn="l" indent="0" marL="0">
              <a:buNone/>
            </a:pPr>
            <a:r>
              <a:rPr lang="en-US" sz="2300" b="1" dirty="0">
                <a:solidFill>
                  <a:srgbClr val="2F8F64"/>
                </a:solidFill>
                <a:latin typeface="Aptos" pitchFamily="34" charset="0"/>
                <a:ea typeface="Aptos" pitchFamily="34" charset="-122"/>
                <a:cs typeface="Aptos" pitchFamily="34" charset="-120"/>
              </a:rPr>
              <a:t>Validacion final: ok</a:t>
            </a:r>
            <a:endParaRPr lang="en-US" sz="2300" dirty="0"/>
          </a:p>
        </p:txBody>
      </p:sp>
      <p:sp>
        <p:nvSpPr>
          <p:cNvPr id="8" name="Text 5"/>
          <p:cNvSpPr/>
          <p:nvPr/>
        </p:nvSpPr>
        <p:spPr>
          <a:xfrm>
            <a:off x="6739128" y="2468880"/>
            <a:ext cx="3749040" cy="438912"/>
          </a:xfrm>
          <a:prstGeom prst="rect">
            <a:avLst/>
          </a:prstGeom>
          <a:noFill/>
          <a:ln/>
        </p:spPr>
        <p:txBody>
          <a:bodyPr wrap="square" lIns="254" tIns="254" rIns="254" bIns="254" rtlCol="0" anchor="ctr">
            <a:normAutofit/>
          </a:bodyPr>
          <a:lstStyle/>
          <a:p>
            <a:pPr algn="l" indent="0" marL="0">
              <a:buNone/>
            </a:pPr>
            <a:r>
              <a:rPr lang="en-US" sz="1400" dirty="0">
                <a:solidFill>
                  <a:srgbClr val="667085"/>
                </a:solidFill>
                <a:latin typeface="Aptos" pitchFamily="34" charset="0"/>
                <a:ea typeface="Aptos" pitchFamily="34" charset="-122"/>
                <a:cs typeface="Aptos" pitchFamily="34" charset="-120"/>
              </a:rPr>
              <a:t>Limites: datos ruidosos, joins imperfectos, requiere revision humana.</a:t>
            </a:r>
            <a:endParaRPr lang="en-US" sz="1400" dirty="0"/>
          </a:p>
        </p:txBody>
      </p:sp>
      <p:sp>
        <p:nvSpPr>
          <p:cNvPr id="9" name="Text 6"/>
          <p:cNvSpPr/>
          <p:nvPr/>
        </p:nvSpPr>
        <p:spPr>
          <a:xfrm>
            <a:off x="6739128" y="3246120"/>
            <a:ext cx="3749040" cy="438912"/>
          </a:xfrm>
          <a:prstGeom prst="rect">
            <a:avLst/>
          </a:prstGeom>
          <a:noFill/>
          <a:ln/>
        </p:spPr>
        <p:txBody>
          <a:bodyPr wrap="square" lIns="254" tIns="254" rIns="254" bIns="254" rtlCol="0" anchor="ctr">
            <a:normAutofit/>
          </a:bodyPr>
          <a:lstStyle/>
          <a:p>
            <a:pPr algn="l" indent="0" marL="0">
              <a:buNone/>
            </a:pPr>
            <a:r>
              <a:rPr lang="en-US" sz="1600" b="1" dirty="0">
                <a:solidFill>
                  <a:srgbClr val="153E75"/>
                </a:solidFill>
                <a:latin typeface="Aptos" pitchFamily="34" charset="0"/>
                <a:ea typeface="Aptos" pitchFamily="34" charset="-122"/>
                <a:cs typeface="Aptos" pitchFamily="34" charset="-120"/>
              </a:rPr>
              <a:t>Siguiente: encuesta real con 5 usuarios y piloto controlado.</a:t>
            </a:r>
            <a:endParaRPr lang="en-US" sz="1600" dirty="0"/>
          </a:p>
        </p:txBody>
      </p:sp>
      <p:sp>
        <p:nvSpPr>
          <p:cNvPr id="10" name="Text 7"/>
          <p:cNvSpPr/>
          <p:nvPr/>
        </p:nvSpPr>
        <p:spPr>
          <a:xfrm>
            <a:off x="502920" y="6473952"/>
            <a:ext cx="6400800" cy="201168"/>
          </a:xfrm>
          <a:prstGeom prst="rect">
            <a:avLst/>
          </a:prstGeom>
          <a:noFill/>
          <a:ln/>
        </p:spPr>
        <p:txBody>
          <a:bodyPr wrap="square" lIns="254" tIns="254" rIns="254" bIns="254" rtlCol="0" anchor="ctr">
            <a:normAutofit/>
          </a:bodyPr>
          <a:lstStyle/>
          <a:p>
            <a:pPr algn="l" indent="0" marL="0">
              <a:buNone/>
            </a:pPr>
            <a:r>
              <a:rPr lang="en-US" sz="800" dirty="0">
                <a:solidFill>
                  <a:srgbClr val="667085"/>
                </a:solidFill>
                <a:latin typeface="Aptos" pitchFamily="34" charset="0"/>
                <a:ea typeface="Aptos" pitchFamily="34" charset="-122"/>
                <a:cs typeface="Aptos" pitchFamily="34" charset="-120"/>
              </a:rPr>
              <a:t>Priorizacion de revision humana; no prueba conductas indebidas.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Universidad del Rosario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ContratIA Abierta</dc:title>
  <dc:subject>Proyecto final de Ingenieria de Datos</dc:subject>
  <dc:creator>Transparencia360 / ContratIA Abierta</dc:creator>
  <cp:lastModifiedBy>Transparencia360 / ContratIA Abierta</cp:lastModifiedBy>
  <cp:revision>1</cp:revision>
  <dcterms:created xsi:type="dcterms:W3CDTF">2026-05-27T05:11:57Z</dcterms:created>
  <dcterms:modified xsi:type="dcterms:W3CDTF">2026-05-27T05:11:57Z</dcterms:modified>
</cp:coreProperties>
</file>