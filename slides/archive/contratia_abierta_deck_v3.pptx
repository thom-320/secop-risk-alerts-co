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14255" y="0"/>
            <a:ext cx="2377440" cy="164592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alibri"/>
              </a:defRPr>
            </a:pPr>
            <a:r>
              <a:t>CONCURSO DATOS AL ECOSISTEMA 2026  ·  IA PARA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6400" b="1" i="0">
                <a:solidFill>
                  <a:srgbClr val="FFFFFF"/>
                </a:solidFill>
                <a:latin typeface="Calibri"/>
              </a:defRPr>
            </a:pPr>
            <a:r>
              <a:t>ContratIA Abierta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0" i="0">
                <a:solidFill>
                  <a:srgbClr val="EEF2F8"/>
                </a:solidFill>
                <a:latin typeface="Calibri"/>
              </a:defRPr>
            </a:pPr>
            <a:r>
              <a:t>IA explicable para priorizar la revisión humana de la contratación pública en Colombia.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1">
                <a:solidFill>
                  <a:srgbClr val="F5EAD2"/>
                </a:solidFill>
                <a:latin typeface="Calibri"/>
              </a:defRPr>
            </a:pPr>
            <a:r>
              <a:t>No emitimos juicios de corrupción.  Ordenamos qué revisar primero, con evidencia trazable.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109728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2011679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Datos abiertos SECOP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1" y="4754880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Score 0–100 explicable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5" y="4754880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Revisión humana trazable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1" y="4754880"/>
            <a:ext cx="2011679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Orinoquía → Colombia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Categoría: Gobernanza y Transparencia   ·   Región demo: Meta y Casanare   ·   Universidad del Rosario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No faltan datos. Falta capacidad humana para revisarlos.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 i="0">
                <a:solidFill>
                  <a:srgbClr val="0B1E33"/>
                </a:solidFill>
                <a:latin typeface="Calibri"/>
              </a:defRPr>
            </a:pPr>
            <a:r>
              <a:t>Cada año Colombia publica cientos de miles de procesos en SECOP. Oficinas de control interno, veedurías y periodistas no tienen tiempo para revisarlos todos. La pregunta operativa real es: ¿qué se revisa primero esta semana?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108960"/>
            <a:ext cx="50800" cy="21945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Miles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de procesos publicados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por entidad y año en SECOP.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10896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3108960"/>
            <a:ext cx="50800" cy="219456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2461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Decenas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8404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de revisores humanos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519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con tiempo y capacidad limitada.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10896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3108960"/>
            <a:ext cx="50800" cy="219456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Una 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semanal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519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qué priorizar, con qué evidencia.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7790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1">
                <a:solidFill>
                  <a:srgbClr val="0B1E33"/>
                </a:solidFill>
                <a:latin typeface="Calibri"/>
              </a:defRPr>
            </a:pPr>
            <a:r>
              <a:t>Triage de contratación: convertir un océano de procesos en una cola priorizada y auditable.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LA 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Qué hace ContratIA Abierta y qué NO hace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64592" cy="411480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F827C"/>
                </a:solidFill>
                <a:latin typeface="Calibri"/>
              </a:defRPr>
            </a:pPr>
            <a:r>
              <a:t>SÍ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Ranking 0–100 explicable de procesos a revisar.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Comparables: ¿con qué se parece este proceso?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Alineación plan (PAA) vs ejecución (SECOP II).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Razones legibles para humano + confianza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Trazabilidad: fuente, fecha, snapshot, hash.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164592" cy="4114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alibri"/>
              </a:defRPr>
            </a:pPr>
            <a:r>
              <a:t>NO 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declara corrupción, fraude ni responsabilidad.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reemplaza auditoría jurídica ni fiscal.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0896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deanonimiza más allá del dato público.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1188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usa contexto fiscal como etiqueta del modelo.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reemplaza la decisión humana: la informa.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1">
                <a:solidFill>
                  <a:srgbClr val="103A5C"/>
                </a:solidFill>
                <a:latin typeface="Calibri"/>
              </a:defRPr>
            </a:pPr>
            <a:r>
              <a:t>Un score alto significa “revísalo primero con evidencia”, no “es corrupción”.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USUARIO Y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¿Para quién es y qué decide cada semana?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611880" cy="508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Control interno / transparencia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Usuario primario.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Decide qué procesos auditar esta semana con capacidad limitada.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916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691640"/>
            <a:ext cx="3611880" cy="5080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874519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Veeduría ciudadana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688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Usuario secundario.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346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Prioriza casos con evidencia para denuncia ciudadana documentada.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6916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691640"/>
            <a:ext cx="3611880" cy="50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874519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Periodista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4688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Usuario secundario.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8346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Encuentra patrones territoriales con trazabilidad para publicar.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37760"/>
            <a:ext cx="10972800" cy="118872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DECISIÓN SEMANAL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“De los procesos publicados esta semana, ¿cuáles 20 revisamos primero y por qué?”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556076"/>
                </a:solidFill>
                <a:latin typeface="Calibri"/>
              </a:defRPr>
            </a:pPr>
            <a:r>
              <a:t>ContratIA Abierta convierte esa pregunta en una cola priorizada y auditable.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FUENTES OFICIALES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Cuatro datasets abiertos del ecosistema Datos Abiertos Colombia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15087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03A5C"/>
                </a:solidFill>
                <a:latin typeface="Consolas"/>
              </a:defRPr>
            </a:pPr>
            <a:r>
              <a:t>p6dx-8zbt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SECOP II — Procesos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Procesos de contratación pública (canónico).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63500" cy="150876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F827C"/>
                </a:solidFill>
                <a:latin typeface="Consolas"/>
              </a:defRPr>
            </a:pPr>
            <a:r>
              <a:t>rpmr-utcd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SECOP Integrado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4320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Histórico de contratos cerrados (baseline de valor).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63500" cy="150876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onsolas"/>
              </a:defRPr>
            </a:pPr>
            <a:r>
              <a:t>9sue-ezhx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4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Plan Anual de Adquisiciones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Lo que la entidad planeó comprar (PAA detalle).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474720"/>
            <a:ext cx="63500" cy="1508760"/>
          </a:xfrm>
          <a:prstGeom prst="rect">
            <a:avLst/>
          </a:prstGeom>
          <a:solidFill>
            <a:srgbClr val="55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611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556076"/>
                </a:solidFill>
                <a:latin typeface="Consolas"/>
              </a:defRPr>
            </a:pPr>
            <a:r>
              <a:t>wasc-xi4h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7764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Resultados de auditoría (AGR)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3484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Contexto fiscal — visible, no etiqueta del modelo.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17.229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procesos 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4.494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PAA items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68.916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razones explicables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datos abiertos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Pipeline reproducible: del dato abierto al ranking explicable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91737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1737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Extracción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Socrata API</a:t>
            </a:r>
            <a:br/>
            <a:r>
              <a:t>+ snapshots Parquet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29195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3772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772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2115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2115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Limpieza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9275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Normalización,</a:t>
            </a:r>
            <a:br/>
            <a:r>
              <a:t>IDs estables, dedup.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21230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75807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5807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4150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4150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1310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PAA ↔ proceso por</a:t>
            </a:r>
            <a:br/>
            <a:r>
              <a:t>similitud + reglas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13265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7842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7842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16185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185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345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Reglas + pares</a:t>
            </a:r>
            <a:br/>
            <a:r>
              <a:t>+ anomalía + confianza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5300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59877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9877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08220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08220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Evidencia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5380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Ranking + razones</a:t>
            </a:r>
            <a:br/>
            <a:r>
              <a:t>+ comparables + reporte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Reproducibilidad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40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Un solo `make product-pipeline &amp;&amp; make validate-product` reconstruye el ranking desde cero con datos abiertos versionados. Sin black box: cada paso deja artefacto auditable.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ARQUITECTURA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Stack de Ingeniería de Datos completo y trazable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691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11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0116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Socrata SODA + Parquet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957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3957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PostgreSQL +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797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7797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Python · uv · Polars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6382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638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FastAPI (3 servicios)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478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478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Dash + Plotly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Orquesta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9319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Make + Docker Compose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0350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0B1E33"/>
                </a:solidFill>
                <a:latin typeface="Calibri"/>
              </a:defRPr>
            </a:pPr>
            <a:r>
              <a:t>PostgreSQL es fuente de verdad relacional. MongoDB guarda evidencia documental y eventos.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SCORE EXPLICABLE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Cuatro componentes auditables → un número entre 0 y 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651760" cy="508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Reglas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Heurísticas verificables</a:t>
            </a:r>
            <a:br/>
            <a:r>
              <a:t>(modalidad, unicidad, plazos).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5080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Pares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Desviación contra procesos</a:t>
            </a:r>
            <a:br/>
            <a:r>
              <a:t>comparables del segmento.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2651760" cy="50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Anomalía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Componente estadístico</a:t>
            </a:r>
            <a:br/>
            <a:r>
              <a:t>(Isolation Forest).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737360"/>
            <a:ext cx="2651760" cy="50800"/>
          </a:xfrm>
          <a:prstGeom prst="rect">
            <a:avLst/>
          </a:prstGeom>
          <a:solidFill>
            <a:srgbClr val="55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Confianza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0–1 según cobertura</a:t>
            </a:r>
            <a:br/>
            <a:r>
              <a:t>y calidad de datos.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INTERPRETACIÓN DEL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1F827C"/>
                </a:solidFill>
                <a:latin typeface="Calibri"/>
              </a:defRPr>
            </a:pPr>
            <a:r>
              <a:t>0–20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Típico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Sin desviaciones relevantes.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103A5C"/>
                </a:solidFill>
                <a:latin typeface="Calibri"/>
              </a:defRPr>
            </a:pPr>
            <a:r>
              <a:t>21–40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Leve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Revisar solo si hay contexto sensible.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C2842A"/>
                </a:solidFill>
                <a:latin typeface="Calibri"/>
              </a:defRPr>
            </a:pPr>
            <a:r>
              <a:t>41–70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Notable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Revisión recomendada con evidencia.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E35A4B"/>
                </a:solidFill>
                <a:latin typeface="Calibri"/>
              </a:defRPr>
            </a:pPr>
            <a:r>
              <a:t>71–100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Alta prioridad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Multi-señal, revisar primero.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EVIDENCIA DE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Métricas duras de un sistema reproducible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03A5C"/>
                </a:solidFill>
                <a:latin typeface="Calibri"/>
              </a:defRPr>
            </a:pPr>
            <a:r>
              <a:t>17.229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procesos cargados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783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F827C"/>
                </a:solidFill>
                <a:latin typeface="Calibri"/>
              </a:defRPr>
            </a:pPr>
            <a:r>
              <a:t>33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objetos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78308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1783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E35A4B"/>
                </a:solidFill>
                <a:latin typeface="Calibri"/>
              </a:defRPr>
            </a:pPr>
            <a:r>
              <a:t>5/5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colecciones 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03A5C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APIs FastAPI · health 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333756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F827C"/>
                </a:solidFill>
                <a:latin typeface="Calibri"/>
              </a:defRPr>
            </a:pPr>
            <a:r>
              <a:t>71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tests pytest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33756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333756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E35A4B"/>
                </a:solidFill>
                <a:latin typeface="Calibri"/>
              </a:defRPr>
            </a:pPr>
            <a:r>
              <a:t>21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documentos técnicos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33756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7830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SQL ENGINEERING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1488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21488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audit_log · historial · updated_at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5603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Window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2560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concentración · outliers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71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CTE recursiva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2971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jerarquía territorial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3832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Transacciones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3383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score + evento atómico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947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Vistas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37947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ranking + alineación PAA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DEMO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Tres clics: panorama → ranking → evidencia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3337560" cy="2286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0740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Panorama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El usuario entiende</a:t>
            </a:r>
            <a:br/>
            <a:r>
              <a:t>el universo a revisar.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74520"/>
            <a:ext cx="3337560" cy="22860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434840" y="4389120"/>
            <a:ext cx="411480" cy="411480"/>
          </a:xfrm>
          <a:prstGeom prst="ellipse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3891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40740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8006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Procesos ordenados por</a:t>
            </a:r>
            <a:br/>
            <a:r>
              <a:t>prioridad, con confianza.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78308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process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74520"/>
            <a:ext cx="3337560" cy="228600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229600" y="4389120"/>
            <a:ext cx="411480" cy="411480"/>
          </a:xfrm>
          <a:prstGeom prst="ellipse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40740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Detalle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8006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Razones, comparables</a:t>
            </a:r>
            <a:br/>
            <a:r>
              <a:t>y reporte exportable.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VALIDACIÓN Y LÍMITES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Qué validamos, qué falta, próximos pasos honestos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id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12064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VALIDACIÓN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 i="0">
                <a:solidFill>
                  <a:srgbClr val="1F827C"/>
                </a:solidFill>
                <a:latin typeface="Consolas"/>
              </a:defRPr>
            </a:pPr>
            <a:r>
              <a:t>make validate-final  · 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88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0B1E33"/>
                </a:solidFill>
                <a:latin typeface="Calibri"/>
              </a:defRPr>
            </a:pPr>
            <a:r>
              <a:t>✓ 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71 tests pytest, lint estable, validación reproducible.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0B1E33"/>
                </a:solidFill>
                <a:latin typeface="Calibri"/>
              </a:defRPr>
            </a:pPr>
            <a:r>
              <a:t>✓ 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17.229 procesos cargados, joins auditados, fill rates documentados.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0B1E33"/>
                </a:solidFill>
                <a:latin typeface="Calibri"/>
              </a:defRPr>
            </a:pPr>
            <a:r>
              <a:t>✓  Compuerta PAA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34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Match top-1 con confianza ≥ 0.75 reportado por entidad y modalidad.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86400"/>
            <a:ext cx="10972800" cy="86868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LÍMITES Y SIGUIENTE 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Validación humana de 100 casos + 5 entrevistas reales + backend de embeddings activable: ya hay protocolo, faltan revisores. Honesto &gt; teatro.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IMPACTO Y ESCALABILIDAD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De la Orinoquía a Colombia, con ética por diseño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64592" cy="4114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DEMO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Meta y Casanare — Orinoquía como banco de pruebas territorial: una oficina de control con capacidad limitada convierte 17.229 procesos en una cola priorizada de 50 casos revisables con razones visibles.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Pilotos con 2 oficinas de control en Orinoquía.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823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Activar backend de embeddings (sentence-transformers).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978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Despliegue público read-only (Render/Fly).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772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Escalado por departamento, mismo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37360"/>
            <a:ext cx="5029200" cy="4389120"/>
          </a:xfrm>
          <a:prstGeom prst="roundRect">
            <a:avLst>
              <a:gd name="adj" fmla="val 4000"/>
            </a:avLst>
          </a:prstGeom>
          <a:solidFill>
            <a:srgbClr val="0B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ÉTICA POR DISEÑO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Cinco compromisos no negociables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15468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Disclaimer visible en UI, reportes y exportes.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6576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Revisión humana obligatoria antes de cualquier acción.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1605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Trazabilidad: fuente, fecha, hash, snapshot.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66344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Contexto fiscal NO entra como etiqueta del modelo.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1663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Modelo y datos auditables: pesos y reglas públicos.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ContratIA Abierta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 i="0">
                <a:solidFill>
                  <a:srgbClr val="EEF2F8"/>
                </a:solidFill>
                <a:latin typeface="Calibri"/>
              </a:defRPr>
            </a:pPr>
            <a:r>
              <a:t>Prioriza revisión humana en la contratación pública colombiana.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1">
                <a:solidFill>
                  <a:srgbClr val="F5EAD2"/>
                </a:solidFill>
                <a:latin typeface="Calibri"/>
              </a:defRPr>
            </a:pPr>
            <a:r>
              <a:t>No emitimos juicios de corrupción. Ordenamos qué revisar primero, con evidencia trazable.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109728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Ingeniería de Datos · Universidad del Rosario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REPOSITORIO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github.com/Thom-320/secop-risk-alerts-co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CATEGORÍA  ·  REGIÓN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Gobernanza y Transparencia  ·  Meta y Casanare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749039"/>
            <a:ext cx="3749039" cy="237744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886200"/>
            <a:ext cx="3474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 i="1">
                <a:solidFill>
                  <a:srgbClr val="FFFFFF"/>
                </a:solidFill>
                <a:latin typeface="Calibri"/>
              </a:defRPr>
            </a:pPr>
            <a:r>
              <a:t>“Convierte</a:t>
            </a:r>
            <a:br/>
            <a:r>
              <a:t>una revisión</a:t>
            </a:r>
            <a:br/>
            <a:r>
              <a:t>imposible</a:t>
            </a:r>
            <a:br/>
            <a:r>
              <a:t>en una cola</a:t>
            </a:r>
            <a:br/>
            <a:r>
              <a:t>auditable.”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